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7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7774"/>
                </a:solidFill>
                <a:latin typeface="Aptos"/>
              </a:rPr>
              <a:t>23CSE301  •  CAPSTONE PROJECT  •  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603504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3041"/>
                </a:solidFill>
                <a:latin typeface="Aptos Display"/>
              </a:rPr>
              <a:t>AI-Based Industrial
Machine Health &amp; Failure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3063240"/>
            <a:ext cx="53035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27179"/>
                </a:solidFill>
                <a:latin typeface="Aptos"/>
              </a:rPr>
              <a:t>Classification benchmarking  /  Unsupervised operating-regime discovery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58952" y="3886200"/>
            <a:ext cx="4910328" cy="0"/>
          </a:xfrm>
          <a:prstGeom prst="line">
            <a:avLst/>
          </a:prstGeom>
          <a:ln w="16510">
            <a:solidFill>
              <a:srgbClr val="DA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58952" y="4160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7353E"/>
                </a:solidFill>
                <a:latin typeface="Aptos"/>
              </a:rPr>
              <a:t>AI4I 2020 Predictive Maintenance 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4617720"/>
            <a:ext cx="5303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7179"/>
                </a:solidFill>
                <a:latin typeface="Aptos"/>
              </a:rPr>
              <a:t>M Anish Reddy  •  Maneesh Janjam  •  Tarun Manikanta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596188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7774"/>
                </a:solidFill>
                <a:latin typeface="Aptos"/>
              </a:rPr>
              <a:t>Academic Year 2026–27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548640"/>
            <a:ext cx="4983480" cy="5669280"/>
          </a:xfrm>
          <a:prstGeom prst="roundRect">
            <a:avLst>
              <a:gd name="adj" fmla="val 12000"/>
            </a:avLst>
          </a:prstGeom>
          <a:solidFill>
            <a:srgbClr val="163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868680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0CDC2"/>
                </a:solidFill>
                <a:latin typeface="Aptos"/>
              </a:rPr>
              <a:t>OPERATIONAL TELEMETRY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6903720" y="1874519"/>
            <a:ext cx="457200" cy="320041"/>
          </a:xfrm>
          <a:prstGeom prst="line">
            <a:avLst/>
          </a:prstGeom>
          <a:ln w="25400">
            <a:solidFill>
              <a:srgbClr val="64BB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360920" y="1874519"/>
            <a:ext cx="457200" cy="182881"/>
          </a:xfrm>
          <a:prstGeom prst="line">
            <a:avLst/>
          </a:prstGeom>
          <a:ln w="25400">
            <a:solidFill>
              <a:srgbClr val="64BB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818120" y="1554480"/>
            <a:ext cx="457200" cy="502920"/>
          </a:xfrm>
          <a:prstGeom prst="line">
            <a:avLst/>
          </a:prstGeom>
          <a:ln w="25400">
            <a:solidFill>
              <a:srgbClr val="64BB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275320" y="1554480"/>
            <a:ext cx="457200" cy="320039"/>
          </a:xfrm>
          <a:prstGeom prst="line">
            <a:avLst/>
          </a:prstGeom>
          <a:ln w="25400">
            <a:solidFill>
              <a:srgbClr val="64BB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8732520" y="1417320"/>
            <a:ext cx="457200" cy="457199"/>
          </a:xfrm>
          <a:prstGeom prst="line">
            <a:avLst/>
          </a:prstGeom>
          <a:ln w="25400">
            <a:solidFill>
              <a:srgbClr val="64BB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189720" y="1417320"/>
            <a:ext cx="457200" cy="246888"/>
          </a:xfrm>
          <a:prstGeom prst="line">
            <a:avLst/>
          </a:prstGeom>
          <a:ln w="25400">
            <a:solidFill>
              <a:srgbClr val="64BB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9646920" y="1234440"/>
            <a:ext cx="457200" cy="429768"/>
          </a:xfrm>
          <a:prstGeom prst="line">
            <a:avLst/>
          </a:prstGeom>
          <a:ln w="25400">
            <a:solidFill>
              <a:srgbClr val="64BB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104120" y="1234440"/>
            <a:ext cx="457200" cy="274320"/>
          </a:xfrm>
          <a:prstGeom prst="line">
            <a:avLst/>
          </a:prstGeom>
          <a:ln w="25400">
            <a:solidFill>
              <a:srgbClr val="64BB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0561320" y="1024128"/>
            <a:ext cx="457200" cy="484632"/>
          </a:xfrm>
          <a:prstGeom prst="line">
            <a:avLst/>
          </a:prstGeom>
          <a:ln w="25400">
            <a:solidFill>
              <a:srgbClr val="64BB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862572" y="2153412"/>
            <a:ext cx="82296" cy="82296"/>
          </a:xfrm>
          <a:prstGeom prst="roundRect">
            <a:avLst>
              <a:gd name="adj" fmla="val 12000"/>
            </a:avLst>
          </a:prstGeom>
          <a:solidFill>
            <a:srgbClr val="DA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9772" y="1833372"/>
            <a:ext cx="82296" cy="82296"/>
          </a:xfrm>
          <a:prstGeom prst="roundRect">
            <a:avLst>
              <a:gd name="adj" fmla="val 12000"/>
            </a:avLst>
          </a:prstGeom>
          <a:solidFill>
            <a:srgbClr val="DA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76972" y="2016252"/>
            <a:ext cx="82296" cy="82296"/>
          </a:xfrm>
          <a:prstGeom prst="roundRect">
            <a:avLst>
              <a:gd name="adj" fmla="val 12000"/>
            </a:avLst>
          </a:prstGeom>
          <a:solidFill>
            <a:srgbClr val="DA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34172" y="1513332"/>
            <a:ext cx="82296" cy="82296"/>
          </a:xfrm>
          <a:prstGeom prst="roundRect">
            <a:avLst>
              <a:gd name="adj" fmla="val 12000"/>
            </a:avLst>
          </a:prstGeom>
          <a:solidFill>
            <a:srgbClr val="DA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691372" y="1833372"/>
            <a:ext cx="82296" cy="82296"/>
          </a:xfrm>
          <a:prstGeom prst="roundRect">
            <a:avLst>
              <a:gd name="adj" fmla="val 12000"/>
            </a:avLst>
          </a:prstGeom>
          <a:solidFill>
            <a:srgbClr val="DA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148572" y="1376172"/>
            <a:ext cx="82296" cy="82296"/>
          </a:xfrm>
          <a:prstGeom prst="roundRect">
            <a:avLst>
              <a:gd name="adj" fmla="val 12000"/>
            </a:avLst>
          </a:prstGeom>
          <a:solidFill>
            <a:srgbClr val="DA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605772" y="1623060"/>
            <a:ext cx="82296" cy="82296"/>
          </a:xfrm>
          <a:prstGeom prst="roundRect">
            <a:avLst>
              <a:gd name="adj" fmla="val 12000"/>
            </a:avLst>
          </a:prstGeom>
          <a:solidFill>
            <a:srgbClr val="DA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062972" y="1193292"/>
            <a:ext cx="82296" cy="82296"/>
          </a:xfrm>
          <a:prstGeom prst="roundRect">
            <a:avLst>
              <a:gd name="adj" fmla="val 12000"/>
            </a:avLst>
          </a:prstGeom>
          <a:solidFill>
            <a:srgbClr val="DC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520172" y="1467612"/>
            <a:ext cx="82296" cy="82296"/>
          </a:xfrm>
          <a:prstGeom prst="roundRect">
            <a:avLst>
              <a:gd name="adj" fmla="val 12000"/>
            </a:avLst>
          </a:prstGeom>
          <a:solidFill>
            <a:srgbClr val="DA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977372" y="982980"/>
            <a:ext cx="82296" cy="82296"/>
          </a:xfrm>
          <a:prstGeom prst="roundRect">
            <a:avLst>
              <a:gd name="adj" fmla="val 12000"/>
            </a:avLst>
          </a:prstGeom>
          <a:solidFill>
            <a:srgbClr val="DC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903720" y="3886200"/>
            <a:ext cx="1325880" cy="987552"/>
          </a:xfrm>
          <a:prstGeom prst="roundRect">
            <a:avLst>
              <a:gd name="adj" fmla="val 12000"/>
            </a:avLst>
          </a:prstGeom>
          <a:solidFill>
            <a:srgbClr val="224353"/>
          </a:solidFill>
          <a:ln w="10160">
            <a:solidFill>
              <a:srgbClr val="4262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95159" y="4096512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0CDC2"/>
                </a:solidFill>
                <a:latin typeface="Aptos"/>
              </a:rPr>
              <a:t>RECORDS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59" y="4370832"/>
            <a:ext cx="1143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ptos Display"/>
              </a:rPr>
              <a:t>10,000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85048" y="3886200"/>
            <a:ext cx="1325880" cy="987552"/>
          </a:xfrm>
          <a:prstGeom prst="roundRect">
            <a:avLst>
              <a:gd name="adj" fmla="val 12000"/>
            </a:avLst>
          </a:prstGeom>
          <a:solidFill>
            <a:srgbClr val="224353"/>
          </a:solidFill>
          <a:ln w="10160">
            <a:solidFill>
              <a:srgbClr val="4262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76488" y="4096512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0CDC2"/>
                </a:solidFill>
                <a:latin typeface="Aptos"/>
              </a:rPr>
              <a:t>CLASSIFIERS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76488" y="4370832"/>
            <a:ext cx="1143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ptos Display"/>
              </a:rPr>
              <a:t>10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866376" y="3886200"/>
            <a:ext cx="1325880" cy="987552"/>
          </a:xfrm>
          <a:prstGeom prst="roundRect">
            <a:avLst>
              <a:gd name="adj" fmla="val 12000"/>
            </a:avLst>
          </a:prstGeom>
          <a:solidFill>
            <a:srgbClr val="224353"/>
          </a:solidFill>
          <a:ln w="10160">
            <a:solidFill>
              <a:srgbClr val="4262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57815" y="4096512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0CDC2"/>
                </a:solidFill>
                <a:latin typeface="Aptos"/>
              </a:rPr>
              <a:t>CLUSTERERS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57815" y="4370832"/>
            <a:ext cx="1143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525780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From failure classification to
label-free operating groups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A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30352" y="6556248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27179"/>
                </a:solidFill>
                <a:latin typeface="Aptos"/>
              </a:rPr>
              <a:t>23CSE301  /  MACHINE LEARNING CAPSTONE  /  AY 2026–27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9680" y="6556248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7774"/>
                </a:solidFill>
                <a:latin typeface="Aptos"/>
              </a:rPr>
              <a:t>REVIEW 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73968" y="6528816"/>
            <a:ext cx="4114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3041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7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7774"/>
                </a:solidFill>
                <a:latin typeface="Aptos"/>
              </a:rPr>
              <a:t>ASSESSMENT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1852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3041"/>
                </a:solidFill>
                <a:latin typeface="Aptos Display"/>
              </a:rPr>
              <a:t>What Review 2 is assessing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15568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7179"/>
                </a:solidFill>
                <a:latin typeface="Aptos"/>
              </a:rPr>
              <a:t>The deck follows the Review 2 rubric: algorithms, evaluation, integration, and the live explanation.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A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56248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27179"/>
                </a:solidFill>
                <a:latin typeface="Aptos"/>
              </a:rPr>
              <a:t>23CSE301  /  MACHINE LEARNING CAPSTONE  /  AY 2026–27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6556248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7774"/>
                </a:solidFill>
                <a:latin typeface="Aptos"/>
              </a:rPr>
              <a:t>REVIEW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73968" y="6528816"/>
            <a:ext cx="4114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3041"/>
                </a:solidFill>
                <a:latin typeface="Aptos"/>
              </a:rP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28800"/>
            <a:ext cx="2258568" cy="3154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828800"/>
            <a:ext cx="64008" cy="3154680"/>
          </a:xfrm>
          <a:prstGeom prst="rect">
            <a:avLst/>
          </a:prstGeom>
          <a:solidFill>
            <a:srgbClr val="1F7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1874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7774"/>
                </a:solidFill>
                <a:latin typeface="Aptos"/>
              </a:rPr>
              <a:t>06 MARKS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258568"/>
            <a:ext cx="1874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3041"/>
                </a:solidFill>
                <a:latin typeface="Aptos Display"/>
              </a:rPr>
              <a:t>Classification — Part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2734056"/>
            <a:ext cx="1874520" cy="2148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7353E"/>
                </a:solidFill>
                <a:latin typeface="Aptos"/>
              </a:rPr>
              <a:t>Five additional classifiers, one consolidated 10-model table, and a justified tuned model.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40" y="1828800"/>
            <a:ext cx="2258568" cy="3154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20440" y="1828800"/>
            <a:ext cx="64008" cy="3154680"/>
          </a:xfrm>
          <a:prstGeom prst="rect">
            <a:avLst/>
          </a:prstGeom>
          <a:solidFill>
            <a:srgbClr val="DC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21608" y="1993392"/>
            <a:ext cx="1874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C6F4E"/>
                </a:solidFill>
                <a:latin typeface="Aptos"/>
              </a:rPr>
              <a:t>08 MARKS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21608" y="2258568"/>
            <a:ext cx="1874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3041"/>
                </a:solidFill>
                <a:latin typeface="Aptos Display"/>
              </a:rPr>
              <a:t>Clustering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21608" y="2734056"/>
            <a:ext cx="1874520" cy="2148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7353E"/>
                </a:solidFill>
                <a:latin typeface="Aptos"/>
              </a:rPr>
              <a:t>K-Means + Agglomerative, three validation metrics, Elbow, dendrograms, PCA and t-SNE.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828800"/>
            <a:ext cx="2258568" cy="3154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1828800"/>
            <a:ext cx="64008" cy="3154680"/>
          </a:xfrm>
          <a:prstGeom prst="rect">
            <a:avLst/>
          </a:prstGeom>
          <a:solidFill>
            <a:srgbClr val="538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1968" y="1993392"/>
            <a:ext cx="1874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38BA5"/>
                </a:solidFill>
                <a:latin typeface="Aptos"/>
              </a:rPr>
              <a:t>03 MARKS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2258568"/>
            <a:ext cx="1874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3041"/>
                </a:solidFill>
                <a:latin typeface="Aptos Display"/>
              </a:rPr>
              <a:t>Pipeline quality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1968" y="2734056"/>
            <a:ext cx="1874520" cy="2148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7353E"/>
                </a:solidFill>
                <a:latin typeface="Aptos"/>
              </a:rPr>
              <a:t>Clean notebooks, modular utilities, README, environment file and meaningful commits.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81160" y="1828800"/>
            <a:ext cx="2258568" cy="3154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81160" y="1828800"/>
            <a:ext cx="64008" cy="3154680"/>
          </a:xfrm>
          <a:prstGeom prst="rect">
            <a:avLst/>
          </a:prstGeom>
          <a:solidFill>
            <a:srgbClr val="163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82328" y="1993392"/>
            <a:ext cx="1874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3041"/>
                </a:solidFill>
                <a:latin typeface="Aptos"/>
              </a:rPr>
              <a:t>08 MARKS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82328" y="2258568"/>
            <a:ext cx="1874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3041"/>
                </a:solidFill>
                <a:latin typeface="Aptos Display"/>
              </a:rPr>
              <a:t>Presentation &amp; viva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82328" y="2734056"/>
            <a:ext cx="1874520" cy="2148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7353E"/>
                </a:solidFill>
                <a:latin typeface="Aptos"/>
              </a:rPr>
              <a:t>Problem → data → method → results → conclusion; all members can explain trade-offs.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544068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3041"/>
                </a:solidFill>
                <a:latin typeface="Aptos"/>
              </a:rPr>
              <a:t>Reminder: the rubric rewards a clear explanation of the actual work—not a list of algorithms without evidence.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7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7774"/>
                </a:solidFill>
                <a:latin typeface="Aptos"/>
              </a:rPr>
              <a:t>PROBLEM FRAMING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1852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3041"/>
                </a:solidFill>
                <a:latin typeface="Aptos Display"/>
              </a:rPr>
              <a:t>Two questions, one maintenance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15568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7179"/>
                </a:solidFill>
                <a:latin typeface="Aptos"/>
              </a:rPr>
              <a:t>Supervised prediction and unsupervised grouping are related, but they answer different questions.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A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56248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27179"/>
                </a:solidFill>
                <a:latin typeface="Aptos"/>
              </a:rPr>
              <a:t>23CSE301  /  MACHINE LEARNING CAPSTONE  /  AY 2026–27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6556248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7774"/>
                </a:solidFill>
                <a:latin typeface="Aptos"/>
              </a:rPr>
              <a:t>REVIEW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73968" y="6528816"/>
            <a:ext cx="4114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3041"/>
                </a:solidFill>
                <a:latin typeface="Aptos"/>
              </a:rP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691640"/>
            <a:ext cx="521208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691640"/>
            <a:ext cx="64008" cy="1828800"/>
          </a:xfrm>
          <a:prstGeom prst="rect">
            <a:avLst/>
          </a:prstGeom>
          <a:solidFill>
            <a:srgbClr val="1F7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1856232"/>
            <a:ext cx="4828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7774"/>
                </a:solidFill>
                <a:latin typeface="Aptos"/>
              </a:rPr>
              <a:t>01  /  CLASSIFICATION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121408"/>
            <a:ext cx="48280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3041"/>
                </a:solidFill>
                <a:latin typeface="Aptos Display"/>
              </a:rPr>
              <a:t>Can we flag machine failure?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2596896"/>
            <a:ext cx="4828032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7353E"/>
                </a:solidFill>
                <a:latin typeface="Aptos"/>
              </a:rPr>
              <a:t>Target: Machine failure (0 = normal, 1 = failure). The dataset is strongly imbalanced: about 96.61% normal records and 3.39% failures.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691640"/>
            <a:ext cx="521208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691640"/>
            <a:ext cx="64008" cy="1828800"/>
          </a:xfrm>
          <a:prstGeom prst="rect">
            <a:avLst/>
          </a:prstGeom>
          <a:solidFill>
            <a:srgbClr val="DC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4807" y="1856232"/>
            <a:ext cx="4828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C6F4E"/>
                </a:solidFill>
                <a:latin typeface="Aptos"/>
              </a:rPr>
              <a:t>02  /  CLUSTERING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7" y="2121408"/>
            <a:ext cx="48280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3041"/>
                </a:solidFill>
                <a:latin typeface="Aptos Display"/>
              </a:rPr>
              <a:t>What operating regimes appear?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7" y="2596896"/>
            <a:ext cx="4828032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7353E"/>
                </a:solidFill>
                <a:latin typeface="Aptos"/>
              </a:rPr>
              <a:t>Group similar operational observations without using the failure label during model fitting. The label is reserved for post-hoc interpretation.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069080"/>
            <a:ext cx="251460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224528"/>
            <a:ext cx="22128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63041"/>
                </a:solidFill>
                <a:latin typeface="Aptos Display"/>
              </a:rPr>
              <a:t>10,000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4645152"/>
            <a:ext cx="22128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7179"/>
                </a:solidFill>
                <a:latin typeface="Aptos"/>
              </a:rPr>
              <a:t>rows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20439" y="4069080"/>
            <a:ext cx="251460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66744" y="4224528"/>
            <a:ext cx="22128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63041"/>
                </a:solidFill>
                <a:latin typeface="Aptos Display"/>
              </a:rPr>
              <a:t>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66744" y="4645152"/>
            <a:ext cx="22128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7179"/>
                </a:solidFill>
                <a:latin typeface="Aptos"/>
              </a:rPr>
              <a:t>columns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59" y="4069080"/>
            <a:ext cx="251460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55664" y="4224528"/>
            <a:ext cx="22128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63041"/>
                </a:solidFill>
                <a:latin typeface="Aptos Display"/>
              </a:rPr>
              <a:t>2,000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5664" y="4645152"/>
            <a:ext cx="22128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7179"/>
                </a:solidFill>
                <a:latin typeface="Aptos"/>
              </a:rPr>
              <a:t>held-out test rows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98280" y="4069080"/>
            <a:ext cx="251460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44584" y="4224528"/>
            <a:ext cx="22128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63041"/>
                </a:solidFill>
                <a:latin typeface="Aptos Display"/>
              </a:rPr>
              <a:t>68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44584" y="4645152"/>
            <a:ext cx="22128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7179"/>
                </a:solidFill>
                <a:latin typeface="Aptos"/>
              </a:rPr>
              <a:t>failure events in test set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5486400"/>
            <a:ext cx="10515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7179"/>
                </a:solidFill>
                <a:latin typeface="Aptos"/>
              </a:rPr>
              <a:t>Source dataset: AI4I 2020 Predictive Maintenance  •  Classification target: Machine failure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7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7774"/>
                </a:solidFill>
                <a:latin typeface="Aptos"/>
              </a:rPr>
              <a:t>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1852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3041"/>
                </a:solidFill>
                <a:latin typeface="Aptos Display"/>
              </a:rPr>
              <a:t>The pipeline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15568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7179"/>
                </a:solidFill>
                <a:latin typeface="Aptos"/>
              </a:rPr>
              <a:t>A consistent split and train-fitted preprocessing keep the classifier comparison fair.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A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56248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27179"/>
                </a:solidFill>
                <a:latin typeface="Aptos"/>
              </a:rPr>
              <a:t>23CSE301  /  MACHINE LEARNING CAPSTONE  /  AY 2026–27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6556248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7774"/>
                </a:solidFill>
                <a:latin typeface="Aptos"/>
              </a:rPr>
              <a:t>REVIEW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73968" y="6528816"/>
            <a:ext cx="4114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3041"/>
                </a:solidFill>
                <a:latin typeface="Aptos"/>
              </a:rPr>
              <a:t>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057400"/>
            <a:ext cx="1627632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0664" y="2240280"/>
            <a:ext cx="365760" cy="365760"/>
          </a:xfrm>
          <a:prstGeom prst="roundRect">
            <a:avLst>
              <a:gd name="adj" fmla="val 12000"/>
            </a:avLst>
          </a:prstGeom>
          <a:solidFill>
            <a:srgbClr val="1F7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" y="2295144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2743200"/>
            <a:ext cx="1325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3041"/>
                </a:solidFill>
                <a:latin typeface="Aptos"/>
              </a:rPr>
              <a:t>Load &amp; audit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" y="3136392"/>
            <a:ext cx="13441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7179"/>
                </a:solidFill>
                <a:latin typeface="Aptos"/>
              </a:rPr>
              <a:t>AI4I 2020
10k × 14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58568" y="2980944"/>
            <a:ext cx="210311" cy="0"/>
          </a:xfrm>
          <a:prstGeom prst="line">
            <a:avLst/>
          </a:prstGeom>
          <a:ln w="20320">
            <a:solidFill>
              <a:srgbClr val="1F77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532888" y="2057400"/>
            <a:ext cx="1627632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679192" y="2240280"/>
            <a:ext cx="365760" cy="365760"/>
          </a:xfrm>
          <a:prstGeom prst="roundRect">
            <a:avLst>
              <a:gd name="adj" fmla="val 12000"/>
            </a:avLst>
          </a:prstGeom>
          <a:solidFill>
            <a:srgbClr val="1F7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79192" y="2295144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79192" y="2743200"/>
            <a:ext cx="1325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3041"/>
                </a:solidFill>
                <a:latin typeface="Aptos"/>
              </a:rPr>
              <a:t>Prepare 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79192" y="3136392"/>
            <a:ext cx="13441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7179"/>
                </a:solidFill>
                <a:latin typeface="Aptos"/>
              </a:rPr>
              <a:t>Drop IDs and
leakage flags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197096" y="2980944"/>
            <a:ext cx="210312" cy="0"/>
          </a:xfrm>
          <a:prstGeom prst="line">
            <a:avLst/>
          </a:prstGeom>
          <a:ln w="20320">
            <a:solidFill>
              <a:srgbClr val="1F77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471416" y="2057400"/>
            <a:ext cx="1627632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617720" y="2240280"/>
            <a:ext cx="365760" cy="365760"/>
          </a:xfrm>
          <a:prstGeom prst="roundRect">
            <a:avLst>
              <a:gd name="adj" fmla="val 12000"/>
            </a:avLst>
          </a:prstGeom>
          <a:solidFill>
            <a:srgbClr val="1F7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2295144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2743200"/>
            <a:ext cx="1325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3041"/>
                </a:solidFill>
                <a:latin typeface="Aptos"/>
              </a:rPr>
              <a:t>Split &amp; transform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3136392"/>
            <a:ext cx="13441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7179"/>
                </a:solidFill>
                <a:latin typeface="Aptos"/>
              </a:rPr>
              <a:t>Stratified 80:20
random_state=42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135624" y="2980944"/>
            <a:ext cx="210312" cy="0"/>
          </a:xfrm>
          <a:prstGeom prst="line">
            <a:avLst/>
          </a:prstGeom>
          <a:ln w="20320">
            <a:solidFill>
              <a:srgbClr val="1F77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409944" y="2057400"/>
            <a:ext cx="1627632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556248" y="2240280"/>
            <a:ext cx="365760" cy="365760"/>
          </a:xfrm>
          <a:prstGeom prst="roundRect">
            <a:avLst>
              <a:gd name="adj" fmla="val 12000"/>
            </a:avLst>
          </a:prstGeom>
          <a:solidFill>
            <a:srgbClr val="1F7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56248" y="2295144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56248" y="2743200"/>
            <a:ext cx="1325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3041"/>
                </a:solidFill>
                <a:latin typeface="Aptos"/>
              </a:rPr>
              <a:t>Train models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56248" y="3136392"/>
            <a:ext cx="13441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7179"/>
                </a:solidFill>
                <a:latin typeface="Aptos"/>
              </a:rPr>
              <a:t>10 classifiers
+ tuning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074152" y="2980944"/>
            <a:ext cx="210312" cy="0"/>
          </a:xfrm>
          <a:prstGeom prst="line">
            <a:avLst/>
          </a:prstGeom>
          <a:ln w="20320">
            <a:solidFill>
              <a:srgbClr val="1F77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48472" y="2057400"/>
            <a:ext cx="1627632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494776" y="2240280"/>
            <a:ext cx="365760" cy="365760"/>
          </a:xfrm>
          <a:prstGeom prst="roundRect">
            <a:avLst>
              <a:gd name="adj" fmla="val 12000"/>
            </a:avLst>
          </a:prstGeom>
          <a:solidFill>
            <a:srgbClr val="1F7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94776" y="2295144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94776" y="2743200"/>
            <a:ext cx="1325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3041"/>
                </a:solidFill>
                <a:latin typeface="Aptos"/>
              </a:rPr>
              <a:t>Evaluate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94776" y="3136392"/>
            <a:ext cx="13441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7179"/>
                </a:solidFill>
                <a:latin typeface="Aptos"/>
              </a:rPr>
              <a:t>Metrics, ROC,
confusion matrices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012680" y="2980944"/>
            <a:ext cx="210312" cy="0"/>
          </a:xfrm>
          <a:prstGeom prst="line">
            <a:avLst/>
          </a:prstGeom>
          <a:ln w="20320">
            <a:solidFill>
              <a:srgbClr val="1F77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10287000" y="2057400"/>
            <a:ext cx="1627632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433304" y="2240280"/>
            <a:ext cx="365760" cy="365760"/>
          </a:xfrm>
          <a:prstGeom prst="roundRect">
            <a:avLst>
              <a:gd name="adj" fmla="val 12000"/>
            </a:avLst>
          </a:prstGeom>
          <a:solidFill>
            <a:srgbClr val="DC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433304" y="2295144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33304" y="2743200"/>
            <a:ext cx="1325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3041"/>
                </a:solidFill>
                <a:latin typeface="Aptos"/>
              </a:rPr>
              <a:t>Explore groups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33304" y="3136392"/>
            <a:ext cx="13441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7179"/>
                </a:solidFill>
                <a:latin typeface="Aptos"/>
              </a:rPr>
              <a:t>K-Means +
Agglomerative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4572000"/>
            <a:ext cx="10716768" cy="914400"/>
          </a:xfrm>
          <a:prstGeom prst="roundRect">
            <a:avLst>
              <a:gd name="adj" fmla="val 12000"/>
            </a:avLst>
          </a:prstGeom>
          <a:solidFill>
            <a:srgbClr val="DA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0120" y="4782312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63041"/>
                </a:solidFill>
                <a:latin typeface="Aptos"/>
              </a:rPr>
              <a:t>Leakage guardrails  •  Exclude UDI, Product ID and failure-subtype flags from X; fit preprocessing on training data only; keep clustering labels out of model fitting.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7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7774"/>
                </a:solidFill>
                <a:latin typeface="Aptos"/>
              </a:rPr>
              <a:t>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1852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3041"/>
                </a:solidFill>
                <a:latin typeface="Aptos Display"/>
              </a:rPr>
              <a:t>Review 2 classification: five additional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15568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7179"/>
                </a:solidFill>
                <a:latin typeface="Aptos"/>
              </a:rPr>
              <a:t>Part A models from Review 1 remain in the final consolidated comparison.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A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56248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27179"/>
                </a:solidFill>
                <a:latin typeface="Aptos"/>
              </a:rPr>
              <a:t>23CSE301  /  MACHINE LEARNING CAPSTONE  /  AY 2026–27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6556248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7774"/>
                </a:solidFill>
                <a:latin typeface="Aptos"/>
              </a:rPr>
              <a:t>REVIEW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73968" y="6528816"/>
            <a:ext cx="4114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3041"/>
                </a:solidFill>
                <a:latin typeface="Aptos"/>
              </a:rPr>
              <a:t>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664208"/>
            <a:ext cx="5120640" cy="3886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1664208"/>
            <a:ext cx="5120640" cy="475488"/>
          </a:xfrm>
          <a:prstGeom prst="roundRect">
            <a:avLst>
              <a:gd name="adj" fmla="val 12000"/>
            </a:avLst>
          </a:prstGeom>
          <a:solidFill>
            <a:srgbClr val="163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792224"/>
            <a:ext cx="4663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PART A  /  REVIEW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664208"/>
            <a:ext cx="5212080" cy="3886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63640" y="1664208"/>
            <a:ext cx="5212080" cy="475488"/>
          </a:xfrm>
          <a:prstGeom prst="roundRect">
            <a:avLst>
              <a:gd name="adj" fmla="val 12000"/>
            </a:avLst>
          </a:prstGeom>
          <a:solidFill>
            <a:srgbClr val="1F7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792224"/>
            <a:ext cx="4663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PART B  /  REVIEW 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" y="2450592"/>
            <a:ext cx="82296" cy="82296"/>
          </a:xfrm>
          <a:prstGeom prst="rect">
            <a:avLst/>
          </a:prstGeom>
          <a:solidFill>
            <a:srgbClr val="538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61288" y="2377440"/>
            <a:ext cx="41879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7353E"/>
                </a:solidFill>
                <a:latin typeface="Aptos"/>
              </a:rPr>
              <a:t>Logistic Regression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" y="2980944"/>
            <a:ext cx="82296" cy="82296"/>
          </a:xfrm>
          <a:prstGeom prst="rect">
            <a:avLst/>
          </a:prstGeom>
          <a:solidFill>
            <a:srgbClr val="538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61288" y="2907792"/>
            <a:ext cx="41879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7353E"/>
                </a:solidFill>
                <a:latin typeface="Aptos"/>
              </a:rPr>
              <a:t>K-Nearest Neighbors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" y="3511296"/>
            <a:ext cx="82296" cy="82296"/>
          </a:xfrm>
          <a:prstGeom prst="rect">
            <a:avLst/>
          </a:prstGeom>
          <a:solidFill>
            <a:srgbClr val="538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61288" y="3438144"/>
            <a:ext cx="41879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7353E"/>
                </a:solidFill>
                <a:latin typeface="Aptos"/>
              </a:rPr>
              <a:t>Gaussian Naive Bayes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" y="4041648"/>
            <a:ext cx="82296" cy="82296"/>
          </a:xfrm>
          <a:prstGeom prst="rect">
            <a:avLst/>
          </a:prstGeom>
          <a:solidFill>
            <a:srgbClr val="538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61288" y="3968496"/>
            <a:ext cx="41879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7353E"/>
                </a:solidFill>
                <a:latin typeface="Aptos"/>
              </a:rPr>
              <a:t>Decision Tree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120" y="4572000"/>
            <a:ext cx="82296" cy="82296"/>
          </a:xfrm>
          <a:prstGeom prst="rect">
            <a:avLst/>
          </a:prstGeom>
          <a:solidFill>
            <a:srgbClr val="538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61288" y="4498848"/>
            <a:ext cx="41879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7353E"/>
                </a:solidFill>
                <a:latin typeface="Aptos"/>
              </a:rPr>
              <a:t>Support Vector Machine (SVC)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37960" y="2450592"/>
            <a:ext cx="82296" cy="82296"/>
          </a:xfrm>
          <a:prstGeom prst="rect">
            <a:avLst/>
          </a:prstGeom>
          <a:solidFill>
            <a:srgbClr val="1F7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39128" y="2377440"/>
            <a:ext cx="41879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7353E"/>
                </a:solidFill>
                <a:latin typeface="Aptos"/>
              </a:rPr>
              <a:t>Random Forest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37960" y="2980944"/>
            <a:ext cx="82296" cy="82296"/>
          </a:xfrm>
          <a:prstGeom prst="rect">
            <a:avLst/>
          </a:prstGeom>
          <a:solidFill>
            <a:srgbClr val="1F7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39128" y="2907792"/>
            <a:ext cx="41879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7353E"/>
                </a:solidFill>
                <a:latin typeface="Aptos"/>
              </a:rPr>
              <a:t>AdaBoost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37960" y="3511296"/>
            <a:ext cx="82296" cy="82296"/>
          </a:xfrm>
          <a:prstGeom prst="rect">
            <a:avLst/>
          </a:prstGeom>
          <a:solidFill>
            <a:srgbClr val="1F7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39128" y="3438144"/>
            <a:ext cx="41879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7353E"/>
                </a:solidFill>
                <a:latin typeface="Aptos"/>
              </a:rPr>
              <a:t>Gradient Boosting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37960" y="4041648"/>
            <a:ext cx="82296" cy="82296"/>
          </a:xfrm>
          <a:prstGeom prst="rect">
            <a:avLst/>
          </a:prstGeom>
          <a:solidFill>
            <a:srgbClr val="1F7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39128" y="3968496"/>
            <a:ext cx="41879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7353E"/>
                </a:solidFill>
                <a:latin typeface="Aptos"/>
              </a:rPr>
              <a:t>Bagging (Decision Tree base)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37960" y="4572000"/>
            <a:ext cx="82296" cy="82296"/>
          </a:xfrm>
          <a:prstGeom prst="rect">
            <a:avLst/>
          </a:prstGeom>
          <a:solidFill>
            <a:srgbClr val="1F7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39128" y="4498848"/>
            <a:ext cx="41879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7353E"/>
                </a:solidFill>
                <a:latin typeface="Aptos"/>
              </a:rPr>
              <a:t>MLP Neural Network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815584"/>
            <a:ext cx="10607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3041"/>
                </a:solidFill>
                <a:latin typeface="Aptos"/>
              </a:rPr>
              <a:t>Benchmark rule: evaluate all models on the same held-out split and report Accuracy, Precision, Recall, weighted F1, confusion matrix and ROC-AUC.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7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7774"/>
                </a:solidFill>
                <a:latin typeface="Aptos"/>
              </a:rPr>
              <a:t>CLASSIFICATION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1852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3041"/>
                </a:solidFill>
                <a:latin typeface="Aptos Display"/>
              </a:rPr>
              <a:t>Consolidated comparison: all 10 classifiers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15568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7179"/>
                </a:solidFill>
                <a:latin typeface="Aptos"/>
              </a:rPr>
              <a:t>Held-out test set: 2,000 rows. Values transcribed from the current classification notebook output.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A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56248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27179"/>
                </a:solidFill>
                <a:latin typeface="Aptos"/>
              </a:rPr>
              <a:t>23CSE301  /  MACHINE LEARNING CAPSTONE  /  AY 2026–27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6556248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7774"/>
                </a:solidFill>
                <a:latin typeface="Aptos"/>
              </a:rPr>
              <a:t>REVIEW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73968" y="6528816"/>
            <a:ext cx="4114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3041"/>
                </a:solidFill>
                <a:latin typeface="Aptos"/>
              </a:rPr>
              <a:t>06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1792" y="1600200"/>
          <a:ext cx="10927077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8620"/>
                <a:gridCol w="634160"/>
                <a:gridCol w="1317103"/>
                <a:gridCol w="1512229"/>
                <a:gridCol w="1365885"/>
                <a:gridCol w="1219540"/>
                <a:gridCol w="1219540"/>
              </a:tblGrid>
              <a:tr h="403167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1">
                          <a:solidFill>
                            <a:srgbClr val="FFFFFF"/>
                          </a:solidFill>
                          <a:latin typeface="Aptos"/>
                        </a:rPr>
                        <a:t>Model</a:t>
                      </a:r>
                    </a:p>
                  </a:txBody>
                  <a:tcPr marL="54864" marR="45720" marT="22860" marB="22860" anchor="ctr">
                    <a:solidFill>
                      <a:srgbClr val="1630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1">
                          <a:solidFill>
                            <a:srgbClr val="FFFFFF"/>
                          </a:solidFill>
                          <a:latin typeface="Aptos"/>
                        </a:rPr>
                        <a:t>Part</a:t>
                      </a:r>
                    </a:p>
                  </a:txBody>
                  <a:tcPr marL="54864" marR="45720" marT="22860" marB="22860" anchor="ctr">
                    <a:solidFill>
                      <a:srgbClr val="1630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1">
                          <a:solidFill>
                            <a:srgbClr val="FFFFFF"/>
                          </a:solidFill>
                          <a:latin typeface="Aptos"/>
                        </a:rPr>
                        <a:t>Accuracy</a:t>
                      </a:r>
                    </a:p>
                  </a:txBody>
                  <a:tcPr marL="54864" marR="45720" marT="22860" marB="22860" anchor="ctr">
                    <a:solidFill>
                      <a:srgbClr val="1630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1">
                          <a:solidFill>
                            <a:srgbClr val="FFFFFF"/>
                          </a:solidFill>
                          <a:latin typeface="Aptos"/>
                        </a:rPr>
                        <a:t>Precision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1">
                          <a:solidFill>
                            <a:srgbClr val="FFFFFF"/>
                          </a:solidFill>
                          <a:latin typeface="Aptos"/>
                        </a:rPr>
                        <a:t>(weighted)</a:t>
                      </a:r>
                    </a:p>
                  </a:txBody>
                  <a:tcPr marL="54864" marR="45720" marT="22860" marB="22860" anchor="ctr">
                    <a:solidFill>
                      <a:srgbClr val="1630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1">
                          <a:solidFill>
                            <a:srgbClr val="FFFFFF"/>
                          </a:solidFill>
                          <a:latin typeface="Aptos"/>
                        </a:rPr>
                        <a:t>Recall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1">
                          <a:solidFill>
                            <a:srgbClr val="FFFFFF"/>
                          </a:solidFill>
                          <a:latin typeface="Aptos"/>
                        </a:rPr>
                        <a:t>(weighted)</a:t>
                      </a:r>
                    </a:p>
                  </a:txBody>
                  <a:tcPr marL="54864" marR="45720" marT="22860" marB="22860" anchor="ctr">
                    <a:solidFill>
                      <a:srgbClr val="1630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1">
                          <a:solidFill>
                            <a:srgbClr val="FFFFFF"/>
                          </a:solidFill>
                          <a:latin typeface="Aptos"/>
                        </a:rPr>
                        <a:t>F1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1">
                          <a:solidFill>
                            <a:srgbClr val="FFFFFF"/>
                          </a:solidFill>
                          <a:latin typeface="Aptos"/>
                        </a:rPr>
                        <a:t>(weighted)</a:t>
                      </a:r>
                    </a:p>
                  </a:txBody>
                  <a:tcPr marL="54864" marR="45720" marT="22860" marB="22860" anchor="ctr">
                    <a:solidFill>
                      <a:srgbClr val="1630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1">
                          <a:solidFill>
                            <a:srgbClr val="FFFFFF"/>
                          </a:solidFill>
                          <a:latin typeface="Aptos"/>
                        </a:rPr>
                        <a:t>ROC-AUC</a:t>
                      </a:r>
                    </a:p>
                  </a:txBody>
                  <a:tcPr marL="54864" marR="45720" marT="22860" marB="22860" anchor="ctr">
                    <a:solidFill>
                      <a:srgbClr val="163041"/>
                    </a:solidFill>
                  </a:tcPr>
                </a:tc>
              </a:tr>
              <a:tr h="403167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7353E"/>
                          </a:solidFill>
                          <a:latin typeface="Aptos"/>
                        </a:rPr>
                        <a:t>Bagging (Decision Tree)</a:t>
                      </a:r>
                    </a:p>
                  </a:txBody>
                  <a:tcPr marL="54864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7353E"/>
                          </a:solidFill>
                          <a:latin typeface="Aptos"/>
                        </a:rPr>
                        <a:t>B</a:t>
                      </a:r>
                    </a:p>
                  </a:txBody>
                  <a:tcPr marL="54864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7353E"/>
                          </a:solidFill>
                          <a:latin typeface="Aptos"/>
                        </a:rPr>
                        <a:t>0.9920</a:t>
                      </a:r>
                    </a:p>
                  </a:txBody>
                  <a:tcPr marL="54864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7353E"/>
                          </a:solidFill>
                          <a:latin typeface="Aptos"/>
                        </a:rPr>
                        <a:t>0.9918</a:t>
                      </a:r>
                    </a:p>
                  </a:txBody>
                  <a:tcPr marL="54864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7353E"/>
                          </a:solidFill>
                          <a:latin typeface="Aptos"/>
                        </a:rPr>
                        <a:t>0.9920</a:t>
                      </a:r>
                    </a:p>
                  </a:txBody>
                  <a:tcPr marL="54864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7353E"/>
                          </a:solidFill>
                          <a:latin typeface="Aptos"/>
                        </a:rPr>
                        <a:t>0.9917</a:t>
                      </a:r>
                    </a:p>
                  </a:txBody>
                  <a:tcPr marL="54864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7353E"/>
                          </a:solidFill>
                          <a:latin typeface="Aptos"/>
                        </a:rPr>
                        <a:t>0.9640</a:t>
                      </a:r>
                    </a:p>
                  </a:txBody>
                  <a:tcPr marL="54864" marR="45720" marT="22860" marB="22860" anchor="ctr">
                    <a:solidFill>
                      <a:srgbClr val="FFFFFF"/>
                    </a:solidFill>
                  </a:tcPr>
                </a:tc>
              </a:tr>
              <a:tr h="403167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7353E"/>
                          </a:solidFill>
                          <a:latin typeface="Aptos"/>
                        </a:rPr>
                        <a:t>Gradient Boosting</a:t>
                      </a:r>
                    </a:p>
                  </a:txBody>
                  <a:tcPr marL="54864" marR="45720" marT="22860" marB="22860" anchor="ctr">
                    <a:solidFill>
                      <a:srgbClr val="ECEF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7353E"/>
                          </a:solidFill>
                          <a:latin typeface="Aptos"/>
                        </a:rPr>
                        <a:t>B</a:t>
                      </a:r>
                    </a:p>
                  </a:txBody>
                  <a:tcPr marL="54864" marR="45720" marT="22860" marB="22860" anchor="ctr">
                    <a:solidFill>
                      <a:srgbClr val="ECEF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7353E"/>
                          </a:solidFill>
                          <a:latin typeface="Aptos"/>
                        </a:rPr>
                        <a:t>0.9910</a:t>
                      </a:r>
                    </a:p>
                  </a:txBody>
                  <a:tcPr marL="54864" marR="45720" marT="22860" marB="22860" anchor="ctr">
                    <a:solidFill>
                      <a:srgbClr val="ECEF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7353E"/>
                          </a:solidFill>
                          <a:latin typeface="Aptos"/>
                        </a:rPr>
                        <a:t>0.9907</a:t>
                      </a:r>
                    </a:p>
                  </a:txBody>
                  <a:tcPr marL="54864" marR="45720" marT="22860" marB="22860" anchor="ctr">
                    <a:solidFill>
                      <a:srgbClr val="ECEF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7353E"/>
                          </a:solidFill>
                          <a:latin typeface="Aptos"/>
                        </a:rPr>
                        <a:t>0.9910</a:t>
                      </a:r>
                    </a:p>
                  </a:txBody>
                  <a:tcPr marL="54864" marR="45720" marT="22860" marB="22860" anchor="ctr">
                    <a:solidFill>
                      <a:srgbClr val="ECEF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7353E"/>
                          </a:solidFill>
                          <a:latin typeface="Aptos"/>
                        </a:rPr>
                        <a:t>0.9906</a:t>
                      </a:r>
                    </a:p>
                  </a:txBody>
                  <a:tcPr marL="54864" marR="45720" marT="22860" marB="22860" anchor="ctr">
                    <a:solidFill>
                      <a:srgbClr val="ECEF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7353E"/>
                          </a:solidFill>
                          <a:latin typeface="Aptos"/>
                        </a:rPr>
                        <a:t>0.9756</a:t>
                      </a:r>
                    </a:p>
                  </a:txBody>
                  <a:tcPr marL="54864" marR="45720" marT="22860" marB="22860" anchor="ctr">
                    <a:solidFill>
                      <a:srgbClr val="ECEFEA"/>
                    </a:solidFill>
                  </a:tcPr>
                </a:tc>
              </a:tr>
              <a:tr h="403167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7353E"/>
                          </a:solidFill>
                          <a:latin typeface="Aptos"/>
                        </a:rPr>
                        <a:t>Random Forest</a:t>
                      </a:r>
                    </a:p>
                  </a:txBody>
                  <a:tcPr marL="54864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7353E"/>
                          </a:solidFill>
                          <a:latin typeface="Aptos"/>
                        </a:rPr>
                        <a:t>B</a:t>
                      </a:r>
                    </a:p>
                  </a:txBody>
                  <a:tcPr marL="54864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7353E"/>
                          </a:solidFill>
                          <a:latin typeface="Aptos"/>
                        </a:rPr>
                        <a:t>0.9905</a:t>
                      </a:r>
                    </a:p>
                  </a:txBody>
                  <a:tcPr marL="54864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7353E"/>
                          </a:solidFill>
                          <a:latin typeface="Aptos"/>
                        </a:rPr>
                        <a:t>0.9903</a:t>
                      </a:r>
                    </a:p>
                  </a:txBody>
                  <a:tcPr marL="54864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7353E"/>
                          </a:solidFill>
                          <a:latin typeface="Aptos"/>
                        </a:rPr>
                        <a:t>0.9905</a:t>
                      </a:r>
                    </a:p>
                  </a:txBody>
                  <a:tcPr marL="54864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7353E"/>
                          </a:solidFill>
                          <a:latin typeface="Aptos"/>
                        </a:rPr>
                        <a:t>0.9899</a:t>
                      </a:r>
                    </a:p>
                  </a:txBody>
                  <a:tcPr marL="54864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7353E"/>
                          </a:solidFill>
                          <a:latin typeface="Aptos"/>
                        </a:rPr>
                        <a:t>0.9754</a:t>
                      </a:r>
                    </a:p>
                  </a:txBody>
                  <a:tcPr marL="54864" marR="45720" marT="22860" marB="22860" anchor="ctr">
                    <a:solidFill>
                      <a:srgbClr val="FFFFFF"/>
                    </a:solidFill>
                  </a:tcPr>
                </a:tc>
              </a:tr>
              <a:tr h="403167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7353E"/>
                          </a:solidFill>
                          <a:latin typeface="Aptos"/>
                        </a:rPr>
                        <a:t>Decision Tree</a:t>
                      </a:r>
                    </a:p>
                  </a:txBody>
                  <a:tcPr marL="54864" marR="45720" marT="22860" marB="22860" anchor="ctr">
                    <a:solidFill>
                      <a:srgbClr val="ECEF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7353E"/>
                          </a:solidFill>
                          <a:latin typeface="Aptos"/>
                        </a:rPr>
                        <a:t>A</a:t>
                      </a:r>
                    </a:p>
                  </a:txBody>
                  <a:tcPr marL="54864" marR="45720" marT="22860" marB="22860" anchor="ctr">
                    <a:solidFill>
                      <a:srgbClr val="ECEF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7353E"/>
                          </a:solidFill>
                          <a:latin typeface="Aptos"/>
                        </a:rPr>
                        <a:t>0.9880</a:t>
                      </a:r>
                    </a:p>
                  </a:txBody>
                  <a:tcPr marL="54864" marR="45720" marT="22860" marB="22860" anchor="ctr">
                    <a:solidFill>
                      <a:srgbClr val="ECEF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7353E"/>
                          </a:solidFill>
                          <a:latin typeface="Aptos"/>
                        </a:rPr>
                        <a:t>0.9876</a:t>
                      </a:r>
                    </a:p>
                  </a:txBody>
                  <a:tcPr marL="54864" marR="45720" marT="22860" marB="22860" anchor="ctr">
                    <a:solidFill>
                      <a:srgbClr val="ECEF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7353E"/>
                          </a:solidFill>
                          <a:latin typeface="Aptos"/>
                        </a:rPr>
                        <a:t>0.9880</a:t>
                      </a:r>
                    </a:p>
                  </a:txBody>
                  <a:tcPr marL="54864" marR="45720" marT="22860" marB="22860" anchor="ctr">
                    <a:solidFill>
                      <a:srgbClr val="ECEF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7353E"/>
                          </a:solidFill>
                          <a:latin typeface="Aptos"/>
                        </a:rPr>
                        <a:t>0.9871</a:t>
                      </a:r>
                    </a:p>
                  </a:txBody>
                  <a:tcPr marL="54864" marR="45720" marT="22860" marB="22860" anchor="ctr">
                    <a:solidFill>
                      <a:srgbClr val="ECEF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7353E"/>
                          </a:solidFill>
                          <a:latin typeface="Aptos"/>
                        </a:rPr>
                        <a:t>0.9552</a:t>
                      </a:r>
                    </a:p>
                  </a:txBody>
                  <a:tcPr marL="54864" marR="45720" marT="22860" marB="22860" anchor="ctr">
                    <a:solidFill>
                      <a:srgbClr val="ECEFEA"/>
                    </a:solidFill>
                  </a:tcPr>
                </a:tc>
              </a:tr>
              <a:tr h="403167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7353E"/>
                          </a:solidFill>
                          <a:latin typeface="Aptos"/>
                        </a:rPr>
                        <a:t>MLP Neural Network</a:t>
                      </a:r>
                    </a:p>
                  </a:txBody>
                  <a:tcPr marL="54864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7353E"/>
                          </a:solidFill>
                          <a:latin typeface="Aptos"/>
                        </a:rPr>
                        <a:t>B</a:t>
                      </a:r>
                    </a:p>
                  </a:txBody>
                  <a:tcPr marL="54864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7353E"/>
                          </a:solidFill>
                          <a:latin typeface="Aptos"/>
                        </a:rPr>
                        <a:t>0.9850</a:t>
                      </a:r>
                    </a:p>
                  </a:txBody>
                  <a:tcPr marL="54864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7353E"/>
                          </a:solidFill>
                          <a:latin typeface="Aptos"/>
                        </a:rPr>
                        <a:t>0.9841</a:t>
                      </a:r>
                    </a:p>
                  </a:txBody>
                  <a:tcPr marL="54864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7353E"/>
                          </a:solidFill>
                          <a:latin typeface="Aptos"/>
                        </a:rPr>
                        <a:t>0.9850</a:t>
                      </a:r>
                    </a:p>
                  </a:txBody>
                  <a:tcPr marL="54864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7353E"/>
                          </a:solidFill>
                          <a:latin typeface="Aptos"/>
                        </a:rPr>
                        <a:t>0.9843</a:t>
                      </a:r>
                    </a:p>
                  </a:txBody>
                  <a:tcPr marL="54864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7353E"/>
                          </a:solidFill>
                          <a:latin typeface="Aptos"/>
                        </a:rPr>
                        <a:t>0.9773</a:t>
                      </a:r>
                    </a:p>
                  </a:txBody>
                  <a:tcPr marL="54864" marR="45720" marT="22860" marB="22860" anchor="ctr">
                    <a:solidFill>
                      <a:srgbClr val="FFFFFF"/>
                    </a:solidFill>
                  </a:tcPr>
                </a:tc>
              </a:tr>
              <a:tr h="403167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7353E"/>
                          </a:solidFill>
                          <a:latin typeface="Aptos"/>
                        </a:rPr>
                        <a:t>K-Nearest Neighbors</a:t>
                      </a:r>
                    </a:p>
                  </a:txBody>
                  <a:tcPr marL="54864" marR="45720" marT="22860" marB="22860" anchor="ctr">
                    <a:solidFill>
                      <a:srgbClr val="ECEF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7353E"/>
                          </a:solidFill>
                          <a:latin typeface="Aptos"/>
                        </a:rPr>
                        <a:t>A</a:t>
                      </a:r>
                    </a:p>
                  </a:txBody>
                  <a:tcPr marL="54864" marR="45720" marT="22860" marB="22860" anchor="ctr">
                    <a:solidFill>
                      <a:srgbClr val="ECEF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7353E"/>
                          </a:solidFill>
                          <a:latin typeface="Aptos"/>
                        </a:rPr>
                        <a:t>0.9765</a:t>
                      </a:r>
                    </a:p>
                  </a:txBody>
                  <a:tcPr marL="54864" marR="45720" marT="22860" marB="22860" anchor="ctr">
                    <a:solidFill>
                      <a:srgbClr val="ECEF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7353E"/>
                          </a:solidFill>
                          <a:latin typeface="Aptos"/>
                        </a:rPr>
                        <a:t>0.9742</a:t>
                      </a:r>
                    </a:p>
                  </a:txBody>
                  <a:tcPr marL="54864" marR="45720" marT="22860" marB="22860" anchor="ctr">
                    <a:solidFill>
                      <a:srgbClr val="ECEF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7353E"/>
                          </a:solidFill>
                          <a:latin typeface="Aptos"/>
                        </a:rPr>
                        <a:t>0.9765</a:t>
                      </a:r>
                    </a:p>
                  </a:txBody>
                  <a:tcPr marL="54864" marR="45720" marT="22860" marB="22860" anchor="ctr">
                    <a:solidFill>
                      <a:srgbClr val="ECEF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7353E"/>
                          </a:solidFill>
                          <a:latin typeface="Aptos"/>
                        </a:rPr>
                        <a:t>0.9719</a:t>
                      </a:r>
                    </a:p>
                  </a:txBody>
                  <a:tcPr marL="54864" marR="45720" marT="22860" marB="22860" anchor="ctr">
                    <a:solidFill>
                      <a:srgbClr val="ECEF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7353E"/>
                          </a:solidFill>
                          <a:latin typeface="Aptos"/>
                        </a:rPr>
                        <a:t>0.8799</a:t>
                      </a:r>
                    </a:p>
                  </a:txBody>
                  <a:tcPr marL="54864" marR="45720" marT="22860" marB="22860" anchor="ctr">
                    <a:solidFill>
                      <a:srgbClr val="ECEFEA"/>
                    </a:solidFill>
                  </a:tcPr>
                </a:tc>
              </a:tr>
              <a:tr h="403167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7353E"/>
                          </a:solidFill>
                          <a:latin typeface="Aptos"/>
                        </a:rPr>
                        <a:t>Support Vector Machine</a:t>
                      </a:r>
                    </a:p>
                  </a:txBody>
                  <a:tcPr marL="54864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7353E"/>
                          </a:solidFill>
                          <a:latin typeface="Aptos"/>
                        </a:rPr>
                        <a:t>A</a:t>
                      </a:r>
                    </a:p>
                  </a:txBody>
                  <a:tcPr marL="54864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7353E"/>
                          </a:solidFill>
                          <a:latin typeface="Aptos"/>
                        </a:rPr>
                        <a:t>0.9750</a:t>
                      </a:r>
                    </a:p>
                  </a:txBody>
                  <a:tcPr marL="54864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7353E"/>
                          </a:solidFill>
                          <a:latin typeface="Aptos"/>
                        </a:rPr>
                        <a:t>0.9728</a:t>
                      </a:r>
                    </a:p>
                  </a:txBody>
                  <a:tcPr marL="54864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7353E"/>
                          </a:solidFill>
                          <a:latin typeface="Aptos"/>
                        </a:rPr>
                        <a:t>0.9750</a:t>
                      </a:r>
                    </a:p>
                  </a:txBody>
                  <a:tcPr marL="54864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7353E"/>
                          </a:solidFill>
                          <a:latin typeface="Aptos"/>
                        </a:rPr>
                        <a:t>0.9692</a:t>
                      </a:r>
                    </a:p>
                  </a:txBody>
                  <a:tcPr marL="54864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7353E"/>
                          </a:solidFill>
                          <a:latin typeface="Aptos"/>
                        </a:rPr>
                        <a:t>0.9709</a:t>
                      </a:r>
                    </a:p>
                  </a:txBody>
                  <a:tcPr marL="54864" marR="45720" marT="22860" marB="22860" anchor="ctr">
                    <a:solidFill>
                      <a:srgbClr val="FFFFFF"/>
                    </a:solidFill>
                  </a:tcPr>
                </a:tc>
              </a:tr>
              <a:tr h="403167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7353E"/>
                          </a:solidFill>
                          <a:latin typeface="Aptos"/>
                        </a:rPr>
                        <a:t>Logistic Regression</a:t>
                      </a:r>
                    </a:p>
                  </a:txBody>
                  <a:tcPr marL="54864" marR="45720" marT="22860" marB="22860" anchor="ctr">
                    <a:solidFill>
                      <a:srgbClr val="ECEF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7353E"/>
                          </a:solidFill>
                          <a:latin typeface="Aptos"/>
                        </a:rPr>
                        <a:t>A</a:t>
                      </a:r>
                    </a:p>
                  </a:txBody>
                  <a:tcPr marL="54864" marR="45720" marT="22860" marB="22860" anchor="ctr">
                    <a:solidFill>
                      <a:srgbClr val="ECEF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7353E"/>
                          </a:solidFill>
                          <a:latin typeface="Aptos"/>
                        </a:rPr>
                        <a:t>0.9675</a:t>
                      </a:r>
                    </a:p>
                  </a:txBody>
                  <a:tcPr marL="54864" marR="45720" marT="22860" marB="22860" anchor="ctr">
                    <a:solidFill>
                      <a:srgbClr val="ECEF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7353E"/>
                          </a:solidFill>
                          <a:latin typeface="Aptos"/>
                        </a:rPr>
                        <a:t>0.9581</a:t>
                      </a:r>
                    </a:p>
                  </a:txBody>
                  <a:tcPr marL="54864" marR="45720" marT="22860" marB="22860" anchor="ctr">
                    <a:solidFill>
                      <a:srgbClr val="ECEF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7353E"/>
                          </a:solidFill>
                          <a:latin typeface="Aptos"/>
                        </a:rPr>
                        <a:t>0.9675</a:t>
                      </a:r>
                    </a:p>
                  </a:txBody>
                  <a:tcPr marL="54864" marR="45720" marT="22860" marB="22860" anchor="ctr">
                    <a:solidFill>
                      <a:srgbClr val="ECEF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7353E"/>
                          </a:solidFill>
                          <a:latin typeface="Aptos"/>
                        </a:rPr>
                        <a:t>0.9591</a:t>
                      </a:r>
                    </a:p>
                  </a:txBody>
                  <a:tcPr marL="54864" marR="45720" marT="22860" marB="22860" anchor="ctr">
                    <a:solidFill>
                      <a:srgbClr val="ECEF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7353E"/>
                          </a:solidFill>
                          <a:latin typeface="Aptos"/>
                        </a:rPr>
                        <a:t>0.9274</a:t>
                      </a:r>
                    </a:p>
                  </a:txBody>
                  <a:tcPr marL="54864" marR="45720" marT="22860" marB="22860" anchor="ctr">
                    <a:solidFill>
                      <a:srgbClr val="ECEFEA"/>
                    </a:solidFill>
                  </a:tcPr>
                </a:tc>
              </a:tr>
              <a:tr h="403167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7353E"/>
                          </a:solidFill>
                          <a:latin typeface="Aptos"/>
                        </a:rPr>
                        <a:t>Gaussian Naive Bayes</a:t>
                      </a:r>
                    </a:p>
                  </a:txBody>
                  <a:tcPr marL="54864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7353E"/>
                          </a:solidFill>
                          <a:latin typeface="Aptos"/>
                        </a:rPr>
                        <a:t>A</a:t>
                      </a:r>
                    </a:p>
                  </a:txBody>
                  <a:tcPr marL="54864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7353E"/>
                          </a:solidFill>
                          <a:latin typeface="Aptos"/>
                        </a:rPr>
                        <a:t>0.9545</a:t>
                      </a:r>
                    </a:p>
                  </a:txBody>
                  <a:tcPr marL="54864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7353E"/>
                          </a:solidFill>
                          <a:latin typeface="Aptos"/>
                        </a:rPr>
                        <a:t>0.9585</a:t>
                      </a:r>
                    </a:p>
                  </a:txBody>
                  <a:tcPr marL="54864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7353E"/>
                          </a:solidFill>
                          <a:latin typeface="Aptos"/>
                        </a:rPr>
                        <a:t>0.9545</a:t>
                      </a:r>
                    </a:p>
                  </a:txBody>
                  <a:tcPr marL="54864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7353E"/>
                          </a:solidFill>
                          <a:latin typeface="Aptos"/>
                        </a:rPr>
                        <a:t>0.9564</a:t>
                      </a:r>
                    </a:p>
                  </a:txBody>
                  <a:tcPr marL="54864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7353E"/>
                          </a:solidFill>
                          <a:latin typeface="Aptos"/>
                        </a:rPr>
                        <a:t>0.9060</a:t>
                      </a:r>
                    </a:p>
                  </a:txBody>
                  <a:tcPr marL="54864" marR="45720" marT="22860" marB="22860" anchor="ctr">
                    <a:solidFill>
                      <a:srgbClr val="FFFFFF"/>
                    </a:solidFill>
                  </a:tcPr>
                </a:tc>
              </a:tr>
              <a:tr h="40317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7353E"/>
                          </a:solidFill>
                          <a:latin typeface="Aptos"/>
                        </a:rPr>
                        <a:t>AdaBoost</a:t>
                      </a:r>
                    </a:p>
                  </a:txBody>
                  <a:tcPr marL="54864" marR="45720" marT="22860" marB="22860" anchor="ctr">
                    <a:solidFill>
                      <a:srgbClr val="ECEF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7353E"/>
                          </a:solidFill>
                          <a:latin typeface="Aptos"/>
                        </a:rPr>
                        <a:t>B</a:t>
                      </a:r>
                    </a:p>
                  </a:txBody>
                  <a:tcPr marL="54864" marR="45720" marT="22860" marB="22860" anchor="ctr">
                    <a:solidFill>
                      <a:srgbClr val="ECEF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7353E"/>
                          </a:solidFill>
                          <a:latin typeface="Aptos"/>
                        </a:rPr>
                        <a:t>0.9660</a:t>
                      </a:r>
                    </a:p>
                  </a:txBody>
                  <a:tcPr marL="54864" marR="45720" marT="22860" marB="22860" anchor="ctr">
                    <a:solidFill>
                      <a:srgbClr val="ECEF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7353E"/>
                          </a:solidFill>
                          <a:latin typeface="Aptos"/>
                        </a:rPr>
                        <a:t>0.9332</a:t>
                      </a:r>
                    </a:p>
                  </a:txBody>
                  <a:tcPr marL="54864" marR="45720" marT="22860" marB="22860" anchor="ctr">
                    <a:solidFill>
                      <a:srgbClr val="ECEF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7353E"/>
                          </a:solidFill>
                          <a:latin typeface="Aptos"/>
                        </a:rPr>
                        <a:t>0.9660</a:t>
                      </a:r>
                    </a:p>
                  </a:txBody>
                  <a:tcPr marL="54864" marR="45720" marT="22860" marB="22860" anchor="ctr">
                    <a:solidFill>
                      <a:srgbClr val="ECEF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7353E"/>
                          </a:solidFill>
                          <a:latin typeface="Aptos"/>
                        </a:rPr>
                        <a:t>0.9493</a:t>
                      </a:r>
                    </a:p>
                  </a:txBody>
                  <a:tcPr marL="54864" marR="45720" marT="22860" marB="22860" anchor="ctr">
                    <a:solidFill>
                      <a:srgbClr val="ECEF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7353E"/>
                          </a:solidFill>
                          <a:latin typeface="Aptos"/>
                        </a:rPr>
                        <a:t>0.9560</a:t>
                      </a:r>
                    </a:p>
                  </a:txBody>
                  <a:tcPr marL="54864" marR="45720" marT="22860" marB="22860" anchor="ctr">
                    <a:solidFill>
                      <a:srgbClr val="ECEFEA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67512" y="6108192"/>
            <a:ext cx="106984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27179"/>
                </a:solidFill>
                <a:latin typeface="Aptos"/>
              </a:rPr>
              <a:t>Part A = Review 1  •  Part B = Review 2  •  Weighted recall equals accuracy for this single-label classification task.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7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7774"/>
                </a:solidFill>
                <a:latin typeface="Aptos"/>
              </a:rPr>
              <a:t>CLASSIFICATION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1852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3041"/>
                </a:solidFill>
                <a:latin typeface="Aptos Display"/>
              </a:rPr>
              <a:t>Read the minority class separately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15568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7179"/>
                </a:solidFill>
                <a:latin typeface="Aptos"/>
              </a:rPr>
              <a:t>Overall accuracy is high partly because normal operation dominates the dataset.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A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56248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27179"/>
                </a:solidFill>
                <a:latin typeface="Aptos"/>
              </a:rPr>
              <a:t>23CSE301  /  MACHINE LEARNING CAPSTONE  /  AY 2026–27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6556248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7774"/>
                </a:solidFill>
                <a:latin typeface="Aptos"/>
              </a:rPr>
              <a:t>REVIEW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73968" y="6528816"/>
            <a:ext cx="4114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3041"/>
                </a:solidFill>
                <a:latin typeface="Aptos"/>
              </a:rPr>
              <a:t>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7" y="1554480"/>
            <a:ext cx="5715000" cy="3474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onfusion_matrices_part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61197"/>
            <a:ext cx="5623560" cy="306128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373368" y="1554480"/>
            <a:ext cx="5166359" cy="3474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roc_curves_part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8908" y="1600200"/>
            <a:ext cx="4535279" cy="33832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5321808"/>
            <a:ext cx="169164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F7774"/>
                </a:solidFill>
                <a:latin typeface="Aptos Display"/>
              </a:rPr>
              <a:t>68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47672" y="5358384"/>
            <a:ext cx="22402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7179"/>
                </a:solidFill>
                <a:latin typeface="Aptos"/>
              </a:rPr>
              <a:t>failure events in test 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59" y="5321808"/>
            <a:ext cx="169164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DC6F4E"/>
                </a:solidFill>
                <a:latin typeface="Aptos Display"/>
              </a:rPr>
              <a:t>80.88%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50992" y="5358384"/>
            <a:ext cx="22402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7179"/>
                </a:solidFill>
                <a:latin typeface="Aptos"/>
              </a:rPr>
              <a:t>Bagging failure 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5321808"/>
            <a:ext cx="169164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F7774"/>
                </a:solidFill>
                <a:latin typeface="Aptos Display"/>
              </a:rPr>
              <a:t>0.9773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54311" y="5358384"/>
            <a:ext cx="22402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7179"/>
                </a:solidFill>
                <a:latin typeface="Aptos"/>
              </a:rPr>
              <a:t>MLP ROC-AUC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961888"/>
            <a:ext cx="10424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3041"/>
                </a:solidFill>
                <a:latin typeface="Aptos"/>
              </a:rPr>
              <a:t>When presenting: point to false negatives in the confusion matrices and explain what an AUC threshold curve does—and does not—tell 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7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7774"/>
                </a:solidFill>
                <a:latin typeface="Aptos"/>
              </a:rPr>
              <a:t>CLASSIFICATION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1852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3041"/>
                </a:solidFill>
                <a:latin typeface="Aptos Display"/>
              </a:rPr>
              <a:t>Tuning and cross-validation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15568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7179"/>
                </a:solidFill>
                <a:latin typeface="Aptos"/>
              </a:rPr>
              <a:t>Current notebook outputs show leakage-safe 5-fold stratified CV and GridSearchCV for Gradient Boosting.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A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56248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27179"/>
                </a:solidFill>
                <a:latin typeface="Aptos"/>
              </a:rPr>
              <a:t>23CSE301  /  MACHINE LEARNING CAPSTONE  /  AY 2026–27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6556248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7774"/>
                </a:solidFill>
                <a:latin typeface="Aptos"/>
              </a:rPr>
              <a:t>REVIEW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73968" y="6528816"/>
            <a:ext cx="4114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3041"/>
                </a:solidFill>
                <a:latin typeface="Aptos"/>
              </a:rPr>
              <a:t>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664208"/>
            <a:ext cx="324612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664208"/>
            <a:ext cx="64008" cy="1920240"/>
          </a:xfrm>
          <a:prstGeom prst="rect">
            <a:avLst/>
          </a:prstGeom>
          <a:solidFill>
            <a:srgbClr val="1F7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828800"/>
            <a:ext cx="28620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7774"/>
                </a:solidFill>
                <a:latin typeface="Aptos"/>
              </a:rPr>
              <a:t>GRID 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093976"/>
            <a:ext cx="28620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3041"/>
                </a:solidFill>
                <a:latin typeface="Aptos Display"/>
              </a:rPr>
              <a:t>Gradient Boosting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69464"/>
            <a:ext cx="286207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7353E"/>
                </a:solidFill>
                <a:latin typeface="Aptos"/>
              </a:rPr>
              <a:t>Search: n_estimators [100, 150]; learning_rate [0.05, 0.1]; max_depth [3, 4]; subsample [1.0].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62272" y="1664208"/>
            <a:ext cx="324612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62272" y="1664208"/>
            <a:ext cx="64008" cy="1920240"/>
          </a:xfrm>
          <a:prstGeom prst="rect">
            <a:avLst/>
          </a:prstGeom>
          <a:solidFill>
            <a:srgbClr val="DC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1828800"/>
            <a:ext cx="28620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C6F4E"/>
                </a:solidFill>
                <a:latin typeface="Aptos"/>
              </a:rPr>
              <a:t>SELECTED SETTINGS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093976"/>
            <a:ext cx="28620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3041"/>
                </a:solidFill>
                <a:latin typeface="Aptos Display"/>
              </a:rPr>
              <a:t>100 / 0.05 / depth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569464"/>
            <a:ext cx="286207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7353E"/>
                </a:solidFill>
                <a:latin typeface="Aptos"/>
              </a:rPr>
              <a:t>Best parameters from current notebook: 100 estimators, learning rate 0.05, max depth 4, subsample 1.0.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11312" y="1664208"/>
            <a:ext cx="324612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11312" y="1664208"/>
            <a:ext cx="64008" cy="1920240"/>
          </a:xfrm>
          <a:prstGeom prst="rect">
            <a:avLst/>
          </a:prstGeom>
          <a:solidFill>
            <a:srgbClr val="538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1828800"/>
            <a:ext cx="28620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38BA5"/>
                </a:solidFill>
                <a:latin typeface="Aptos"/>
              </a:rPr>
              <a:t>CV 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093976"/>
            <a:ext cx="28620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3041"/>
                </a:solidFill>
                <a:latin typeface="Aptos Display"/>
              </a:rPr>
              <a:t>0.9894 weighted F1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569464"/>
            <a:ext cx="286207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7353E"/>
                </a:solidFill>
                <a:latin typeface="Aptos"/>
              </a:rPr>
              <a:t>Best cross-validation weighted F1 reported by GridSearchCV.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1024128" y="4069080"/>
          <a:ext cx="10149837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17482"/>
                <a:gridCol w="1513572"/>
                <a:gridCol w="1513572"/>
                <a:gridCol w="1513572"/>
                <a:gridCol w="1691639"/>
              </a:tblGrid>
              <a:tr h="41148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Configuration</a:t>
                      </a:r>
                    </a:p>
                  </a:txBody>
                  <a:tcPr marL="54864" marR="45720" marT="22860" marB="22860" anchor="ctr">
                    <a:solidFill>
                      <a:srgbClr val="1630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Accuracy</a:t>
                      </a:r>
                    </a:p>
                  </a:txBody>
                  <a:tcPr marL="54864" marR="45720" marT="22860" marB="22860" anchor="ctr">
                    <a:solidFill>
                      <a:srgbClr val="1630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Weighted F1</a:t>
                      </a:r>
                    </a:p>
                  </a:txBody>
                  <a:tcPr marL="54864" marR="45720" marT="22860" marB="22860" anchor="ctr">
                    <a:solidFill>
                      <a:srgbClr val="1630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ROC-AUC</a:t>
                      </a:r>
                    </a:p>
                  </a:txBody>
                  <a:tcPr marL="54864" marR="45720" marT="22860" marB="22860" anchor="ctr">
                    <a:solidFill>
                      <a:srgbClr val="1630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Failure recall</a:t>
                      </a:r>
                    </a:p>
                  </a:txBody>
                  <a:tcPr marL="54864" marR="45720" marT="22860" marB="22860" anchor="ctr">
                    <a:solidFill>
                      <a:srgbClr val="163041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7353E"/>
                          </a:solidFill>
                          <a:latin typeface="Aptos"/>
                        </a:rPr>
                        <a:t>Baseline Gradient Boosting</a:t>
                      </a:r>
                    </a:p>
                  </a:txBody>
                  <a:tcPr marL="54864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7353E"/>
                          </a:solidFill>
                          <a:latin typeface="Aptos"/>
                        </a:rPr>
                        <a:t>0.9910</a:t>
                      </a:r>
                    </a:p>
                  </a:txBody>
                  <a:tcPr marL="54864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7353E"/>
                          </a:solidFill>
                          <a:latin typeface="Aptos"/>
                        </a:rPr>
                        <a:t>0.9906</a:t>
                      </a:r>
                    </a:p>
                  </a:txBody>
                  <a:tcPr marL="54864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7353E"/>
                          </a:solidFill>
                          <a:latin typeface="Aptos"/>
                        </a:rPr>
                        <a:t>0.9756</a:t>
                      </a:r>
                    </a:p>
                  </a:txBody>
                  <a:tcPr marL="54864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7353E"/>
                          </a:solidFill>
                          <a:latin typeface="Aptos"/>
                        </a:rPr>
                        <a:t>0.7794</a:t>
                      </a:r>
                    </a:p>
                  </a:txBody>
                  <a:tcPr marL="54864" marR="45720" marT="22860" marB="2286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7353E"/>
                          </a:solidFill>
                          <a:latin typeface="Aptos"/>
                        </a:rPr>
                        <a:t>Tuned Gradient Boosting</a:t>
                      </a:r>
                    </a:p>
                  </a:txBody>
                  <a:tcPr marL="54864" marR="45720" marT="22860" marB="22860" anchor="ctr">
                    <a:solidFill>
                      <a:srgbClr val="ECEF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7353E"/>
                          </a:solidFill>
                          <a:latin typeface="Aptos"/>
                        </a:rPr>
                        <a:t>0.9925</a:t>
                      </a:r>
                    </a:p>
                  </a:txBody>
                  <a:tcPr marL="54864" marR="45720" marT="22860" marB="22860" anchor="ctr">
                    <a:solidFill>
                      <a:srgbClr val="ECEF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7353E"/>
                          </a:solidFill>
                          <a:latin typeface="Aptos"/>
                        </a:rPr>
                        <a:t>0.9922</a:t>
                      </a:r>
                    </a:p>
                  </a:txBody>
                  <a:tcPr marL="54864" marR="45720" marT="22860" marB="22860" anchor="ctr">
                    <a:solidFill>
                      <a:srgbClr val="ECEF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7353E"/>
                          </a:solidFill>
                          <a:latin typeface="Aptos"/>
                        </a:rPr>
                        <a:t>0.9777</a:t>
                      </a:r>
                    </a:p>
                  </a:txBody>
                  <a:tcPr marL="54864" marR="45720" marT="22860" marB="22860" anchor="ctr">
                    <a:solidFill>
                      <a:srgbClr val="ECEF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7353E"/>
                          </a:solidFill>
                          <a:latin typeface="Aptos"/>
                        </a:rPr>
                        <a:t>0.8088</a:t>
                      </a:r>
                    </a:p>
                  </a:txBody>
                  <a:tcPr marL="54864" marR="45720" marT="22860" marB="22860" anchor="ctr">
                    <a:solidFill>
                      <a:srgbClr val="ECEFEA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1051560" y="5623560"/>
            <a:ext cx="9966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7179"/>
                </a:solidFill>
                <a:latin typeface="Aptos"/>
              </a:rPr>
              <a:t>Also reported by 5-fold CV: Gradient Boosting mean F1 = 0.9890 (±0.0022); Random Forest mean F1 = 0.9868 (±0.0028).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7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7774"/>
                </a:solidFill>
                <a:latin typeface="Aptos"/>
              </a:rPr>
              <a:t>CLUSTERING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1852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3041"/>
                </a:solidFill>
                <a:latin typeface="Aptos Display"/>
              </a:rPr>
              <a:t>Clustering: fit without failure labels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15568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7179"/>
                </a:solidFill>
                <a:latin typeface="Aptos"/>
              </a:rPr>
              <a:t>The two required algorithms create labels from operational features—not from known failure outcomes.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A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56248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27179"/>
                </a:solidFill>
                <a:latin typeface="Aptos"/>
              </a:rPr>
              <a:t>23CSE301  /  MACHINE LEARNING CAPSTONE  /  AY 2026–27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6556248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7774"/>
                </a:solidFill>
                <a:latin typeface="Aptos"/>
              </a:rPr>
              <a:t>REVIEW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73968" y="6528816"/>
            <a:ext cx="4114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3041"/>
                </a:solidFill>
                <a:latin typeface="Aptos"/>
              </a:rPr>
              <a:t>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166360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64008" cy="2148840"/>
          </a:xfrm>
          <a:prstGeom prst="rect">
            <a:avLst/>
          </a:prstGeom>
          <a:solidFill>
            <a:srgbClr val="1F7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901952"/>
            <a:ext cx="47823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7774"/>
                </a:solidFill>
                <a:latin typeface="Aptos"/>
              </a:rPr>
              <a:t>CENTROID-BASED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167128"/>
            <a:ext cx="47823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3041"/>
                </a:solidFill>
                <a:latin typeface="Aptos Display"/>
              </a:rPr>
              <a:t>K-Means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642615"/>
            <a:ext cx="478231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7353E"/>
                </a:solidFill>
                <a:latin typeface="Aptos"/>
              </a:rPr>
              <a:t>Candidates k = 2…10; compare inertia and internal validity metrics. Selected configuration in the current benchmark: k = 3, k-means++, 10 initializations.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737360"/>
            <a:ext cx="5166360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737360"/>
            <a:ext cx="64008" cy="2148840"/>
          </a:xfrm>
          <a:prstGeom prst="rect">
            <a:avLst/>
          </a:prstGeom>
          <a:solidFill>
            <a:srgbClr val="DC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4807" y="1901952"/>
            <a:ext cx="47823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C6F4E"/>
                </a:solidFill>
                <a:latin typeface="Aptos"/>
              </a:rPr>
              <a:t>HIERARCHICAL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7" y="2167128"/>
            <a:ext cx="47823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3041"/>
                </a:solidFill>
                <a:latin typeface="Aptos Display"/>
              </a:rPr>
              <a:t>Agglomerative clustering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7" y="2642615"/>
            <a:ext cx="478231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7353E"/>
                </a:solidFill>
                <a:latin typeface="Aptos"/>
              </a:rPr>
              <a:t>Bottom-up merges; Ward, Complete and Average linkage dendrograms are compared. The consolidated benchmark reports k = 3 with Ward linkage.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434840"/>
            <a:ext cx="1056132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4608576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7774"/>
                </a:solidFill>
                <a:latin typeface="Aptos"/>
              </a:rPr>
              <a:t>INPUT FEATURES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" y="4892040"/>
            <a:ext cx="9784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3041"/>
                </a:solidFill>
                <a:latin typeface="Aptos"/>
              </a:rPr>
              <a:t>Air temperature  •  Process temperature  •  Rotational speed  •  Torque  •  Tool wear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5806440"/>
            <a:ext cx="10332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7179"/>
                </a:solidFill>
                <a:latin typeface="Aptos"/>
              </a:rPr>
              <a:t>Ground-truth failure labels are reserved for post-hoc interpretation/validation; they are excluded during clustering fit.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7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7774"/>
                </a:solidFill>
                <a:latin typeface="Aptos"/>
              </a:rPr>
              <a:t>CLUSTERING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1852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3041"/>
                </a:solidFill>
                <a:latin typeface="Aptos Display"/>
              </a:rPr>
              <a:t>K-Means: selecting the cluster 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15568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7179"/>
                </a:solidFill>
                <a:latin typeface="Aptos"/>
              </a:rPr>
              <a:t>The elbow curve and internal validation metrics are evaluated across candidate values of k.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A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56248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27179"/>
                </a:solidFill>
                <a:latin typeface="Aptos"/>
              </a:rPr>
              <a:t>23CSE301  /  MACHINE LEARNING CAPSTONE  /  AY 2026–27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6556248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7774"/>
                </a:solidFill>
                <a:latin typeface="Aptos"/>
              </a:rPr>
              <a:t>REVIEW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73968" y="6528816"/>
            <a:ext cx="4114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3041"/>
                </a:solidFill>
                <a:latin typeface="Aptos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7" y="1463039"/>
            <a:ext cx="8046719" cy="4617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kmeans_elbow_and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714" y="1508760"/>
            <a:ext cx="6200587" cy="45262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887968" y="1828800"/>
            <a:ext cx="2423160" cy="3611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25712" y="2084831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7774"/>
                </a:solidFill>
                <a:latin typeface="Aptos"/>
              </a:rPr>
              <a:t>SELECTED SETTING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25712" y="2487168"/>
            <a:ext cx="19202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3041"/>
                </a:solidFill>
                <a:latin typeface="Aptos Display"/>
              </a:rPr>
              <a:t>k = 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125712" y="3182112"/>
            <a:ext cx="1892808" cy="0"/>
          </a:xfrm>
          <a:prstGeom prst="line">
            <a:avLst/>
          </a:prstGeom>
          <a:ln w="12700">
            <a:solidFill>
              <a:srgbClr val="DA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125712" y="3429000"/>
            <a:ext cx="11704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27179"/>
                </a:solidFill>
                <a:latin typeface="Aptos"/>
              </a:rPr>
              <a:t>Silhouette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0" y="340156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3041"/>
                </a:solidFill>
                <a:latin typeface="Aptos"/>
              </a:rPr>
              <a:t>0.2622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25712" y="3959352"/>
            <a:ext cx="11704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27179"/>
                </a:solidFill>
                <a:latin typeface="Aptos"/>
              </a:rPr>
              <a:t>Davies–Bouldin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7000" y="39319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3041"/>
                </a:solidFill>
                <a:latin typeface="Aptos"/>
              </a:rPr>
              <a:t>1.2437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25712" y="4489704"/>
            <a:ext cx="11704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27179"/>
                </a:solidFill>
                <a:latin typeface="Aptos"/>
              </a:rPr>
              <a:t>Calinski–Harabasz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446227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3041"/>
                </a:solidFill>
                <a:latin typeface="Aptos"/>
              </a:rPr>
              <a:t>3,831.0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25712" y="5138928"/>
            <a:ext cx="19019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DC6F4E"/>
                </a:solidFill>
                <a:latin typeface="Aptos"/>
              </a:rPr>
              <a:t>Metric direction matters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7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7774"/>
                </a:solidFill>
                <a:latin typeface="Aptos"/>
              </a:rPr>
              <a:t>CLUSTERING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1852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3041"/>
                </a:solidFill>
                <a:latin typeface="Aptos Display"/>
              </a:rPr>
              <a:t>Agglomerative clustering: linkage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15568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7179"/>
                </a:solidFill>
                <a:latin typeface="Aptos"/>
              </a:rPr>
              <a:t>Dendrograms show how merges differ under Ward, Average and Complete linkage.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A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56248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27179"/>
                </a:solidFill>
                <a:latin typeface="Aptos"/>
              </a:rPr>
              <a:t>23CSE301  /  MACHINE LEARNING CAPSTONE  /  AY 2026–27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6556248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7774"/>
                </a:solidFill>
                <a:latin typeface="Aptos"/>
              </a:rPr>
              <a:t>REVIEW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73968" y="6528816"/>
            <a:ext cx="4114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3041"/>
                </a:solidFill>
                <a:latin typeface="Aptos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" y="1709928"/>
            <a:ext cx="10972800" cy="3493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endrograms_link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770459"/>
            <a:ext cx="10881360" cy="337194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22960" y="5513832"/>
            <a:ext cx="82296" cy="82296"/>
          </a:xfrm>
          <a:prstGeom prst="rect">
            <a:avLst/>
          </a:prstGeom>
          <a:solidFill>
            <a:srgbClr val="1F7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5440680"/>
            <a:ext cx="103144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7353E"/>
                </a:solidFill>
                <a:latin typeface="Aptos"/>
              </a:rPr>
              <a:t>Ward: merges selected to minimise within-cluster variance.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852160"/>
            <a:ext cx="82296" cy="82296"/>
          </a:xfrm>
          <a:prstGeom prst="rect">
            <a:avLst/>
          </a:prstGeom>
          <a:solidFill>
            <a:srgbClr val="DC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5779008"/>
            <a:ext cx="103144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7353E"/>
                </a:solidFill>
                <a:latin typeface="Aptos"/>
              </a:rPr>
              <a:t>Average and Complete use different distance summaries; keep the linkage choice and its criterion explicit in the viva.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7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7774"/>
                </a:solidFill>
                <a:latin typeface="Aptos"/>
              </a:rPr>
              <a:t>CLUSTERING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1852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3041"/>
                </a:solidFill>
                <a:latin typeface="Aptos Display"/>
              </a:rPr>
              <a:t>Cluster validation: compare the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15568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7179"/>
                </a:solidFill>
                <a:latin typeface="Aptos"/>
              </a:rPr>
              <a:t>Higher is preferred for Silhouette and Calinski–Harabasz; lower is preferred for Davies–Bouldin.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A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56248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27179"/>
                </a:solidFill>
                <a:latin typeface="Aptos"/>
              </a:rPr>
              <a:t>23CSE301  /  MACHINE LEARNING CAPSTONE  /  AY 2026–27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6556248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7774"/>
                </a:solidFill>
                <a:latin typeface="Aptos"/>
              </a:rPr>
              <a:t>REVIEW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73968" y="6528816"/>
            <a:ext cx="4114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3041"/>
                </a:solidFill>
                <a:latin typeface="Aptos"/>
              </a:rPr>
              <a:t>12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49808" y="1755648"/>
          <a:ext cx="10698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914400"/>
                <a:gridCol w="1554480"/>
                <a:gridCol w="1828800"/>
                <a:gridCol w="2560320"/>
              </a:tblGrid>
              <a:tr h="51206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Algorithm / linkage</a:t>
                      </a:r>
                    </a:p>
                  </a:txBody>
                  <a:tcPr marL="54864" marR="45720" marT="22860" marB="22860" anchor="ctr">
                    <a:solidFill>
                      <a:srgbClr val="1630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k</a:t>
                      </a:r>
                    </a:p>
                  </a:txBody>
                  <a:tcPr marL="54864" marR="45720" marT="22860" marB="22860" anchor="ctr">
                    <a:solidFill>
                      <a:srgbClr val="1630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Silhouette ↑</a:t>
                      </a:r>
                    </a:p>
                  </a:txBody>
                  <a:tcPr marL="54864" marR="45720" marT="22860" marB="22860" anchor="ctr">
                    <a:solidFill>
                      <a:srgbClr val="1630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Davies–Bouldin ↓</a:t>
                      </a:r>
                    </a:p>
                  </a:txBody>
                  <a:tcPr marL="54864" marR="45720" marT="22860" marB="22860" anchor="ctr">
                    <a:solidFill>
                      <a:srgbClr val="1630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Calinski–Harabasz ↑</a:t>
                      </a:r>
                    </a:p>
                  </a:txBody>
                  <a:tcPr marL="54864" marR="45720" marT="22860" marB="22860" anchor="ctr">
                    <a:solidFill>
                      <a:srgbClr val="163041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7353E"/>
                          </a:solidFill>
                          <a:latin typeface="Aptos"/>
                        </a:rPr>
                        <a:t>K-Means</a:t>
                      </a:r>
                    </a:p>
                  </a:txBody>
                  <a:tcPr marL="54864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7353E"/>
                          </a:solidFill>
                          <a:latin typeface="Aptos"/>
                        </a:rPr>
                        <a:t>k=3</a:t>
                      </a:r>
                    </a:p>
                  </a:txBody>
                  <a:tcPr marL="54864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7353E"/>
                          </a:solidFill>
                          <a:latin typeface="Aptos"/>
                        </a:rPr>
                        <a:t>0.2622</a:t>
                      </a:r>
                    </a:p>
                  </a:txBody>
                  <a:tcPr marL="54864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7353E"/>
                          </a:solidFill>
                          <a:latin typeface="Aptos"/>
                        </a:rPr>
                        <a:t>1.2437</a:t>
                      </a:r>
                    </a:p>
                  </a:txBody>
                  <a:tcPr marL="54864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7353E"/>
                          </a:solidFill>
                          <a:latin typeface="Aptos"/>
                        </a:rPr>
                        <a:t>3,831.0</a:t>
                      </a:r>
                    </a:p>
                  </a:txBody>
                  <a:tcPr marL="54864" marR="45720" marT="22860" marB="22860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7353E"/>
                          </a:solidFill>
                          <a:latin typeface="Aptos"/>
                        </a:rPr>
                        <a:t>Agglomerative — Ward</a:t>
                      </a:r>
                    </a:p>
                  </a:txBody>
                  <a:tcPr marL="54864" marR="45720" marT="22860" marB="22860" anchor="ctr">
                    <a:solidFill>
                      <a:srgbClr val="ECEF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7353E"/>
                          </a:solidFill>
                          <a:latin typeface="Aptos"/>
                        </a:rPr>
                        <a:t>k=3</a:t>
                      </a:r>
                    </a:p>
                  </a:txBody>
                  <a:tcPr marL="54864" marR="45720" marT="22860" marB="22860" anchor="ctr">
                    <a:solidFill>
                      <a:srgbClr val="ECEF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7353E"/>
                          </a:solidFill>
                          <a:latin typeface="Aptos"/>
                        </a:rPr>
                        <a:t>0.1639</a:t>
                      </a:r>
                    </a:p>
                  </a:txBody>
                  <a:tcPr marL="54864" marR="45720" marT="22860" marB="22860" anchor="ctr">
                    <a:solidFill>
                      <a:srgbClr val="ECEF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7353E"/>
                          </a:solidFill>
                          <a:latin typeface="Aptos"/>
                        </a:rPr>
                        <a:t>1.6258</a:t>
                      </a:r>
                    </a:p>
                  </a:txBody>
                  <a:tcPr marL="54864" marR="45720" marT="22860" marB="22860" anchor="ctr">
                    <a:solidFill>
                      <a:srgbClr val="ECEF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7353E"/>
                          </a:solidFill>
                          <a:latin typeface="Aptos"/>
                        </a:rPr>
                        <a:t>2,427.0</a:t>
                      </a:r>
                    </a:p>
                  </a:txBody>
                  <a:tcPr marL="54864" marR="45720" marT="22860" marB="22860" anchor="ctr">
                    <a:solidFill>
                      <a:srgbClr val="ECEFE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7353E"/>
                          </a:solidFill>
                          <a:latin typeface="Aptos"/>
                        </a:rPr>
                        <a:t>Agglomerative — Average</a:t>
                      </a:r>
                    </a:p>
                  </a:txBody>
                  <a:tcPr marL="54864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7353E"/>
                          </a:solidFill>
                          <a:latin typeface="Aptos"/>
                        </a:rPr>
                        <a:t>k=3</a:t>
                      </a:r>
                    </a:p>
                  </a:txBody>
                  <a:tcPr marL="54864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7353E"/>
                          </a:solidFill>
                          <a:latin typeface="Aptos"/>
                        </a:rPr>
                        <a:t>0.2831</a:t>
                      </a:r>
                    </a:p>
                  </a:txBody>
                  <a:tcPr marL="54864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7353E"/>
                          </a:solidFill>
                          <a:latin typeface="Aptos"/>
                        </a:rPr>
                        <a:t>0.8920</a:t>
                      </a:r>
                    </a:p>
                  </a:txBody>
                  <a:tcPr marL="54864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7353E"/>
                          </a:solidFill>
                          <a:latin typeface="Aptos"/>
                        </a:rPr>
                        <a:t>513.4</a:t>
                      </a:r>
                    </a:p>
                  </a:txBody>
                  <a:tcPr marL="54864" marR="45720" marT="22860" marB="22860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7353E"/>
                          </a:solidFill>
                          <a:latin typeface="Aptos"/>
                        </a:rPr>
                        <a:t>Agglomerative — Complete</a:t>
                      </a:r>
                    </a:p>
                  </a:txBody>
                  <a:tcPr marL="54864" marR="45720" marT="22860" marB="22860" anchor="ctr">
                    <a:solidFill>
                      <a:srgbClr val="ECEF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7353E"/>
                          </a:solidFill>
                          <a:latin typeface="Aptos"/>
                        </a:rPr>
                        <a:t>k=3</a:t>
                      </a:r>
                    </a:p>
                  </a:txBody>
                  <a:tcPr marL="54864" marR="45720" marT="22860" marB="22860" anchor="ctr">
                    <a:solidFill>
                      <a:srgbClr val="ECEF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7353E"/>
                          </a:solidFill>
                          <a:latin typeface="Aptos"/>
                        </a:rPr>
                        <a:t>0.1984</a:t>
                      </a:r>
                    </a:p>
                  </a:txBody>
                  <a:tcPr marL="54864" marR="45720" marT="22860" marB="22860" anchor="ctr">
                    <a:solidFill>
                      <a:srgbClr val="ECEF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7353E"/>
                          </a:solidFill>
                          <a:latin typeface="Aptos"/>
                        </a:rPr>
                        <a:t>1.3788</a:t>
                      </a:r>
                    </a:p>
                  </a:txBody>
                  <a:tcPr marL="54864" marR="45720" marT="22860" marB="22860" anchor="ctr">
                    <a:solidFill>
                      <a:srgbClr val="ECEF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7353E"/>
                          </a:solidFill>
                          <a:latin typeface="Aptos"/>
                        </a:rPr>
                        <a:t>1,424.4</a:t>
                      </a:r>
                    </a:p>
                  </a:txBody>
                  <a:tcPr marL="54864" marR="45720" marT="22860" marB="22860" anchor="ctr">
                    <a:solidFill>
                      <a:srgbClr val="ECEFEA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68680" y="4754880"/>
            <a:ext cx="10469880" cy="822960"/>
          </a:xfrm>
          <a:prstGeom prst="roundRect">
            <a:avLst>
              <a:gd name="adj" fmla="val 12000"/>
            </a:avLst>
          </a:prstGeom>
          <a:solidFill>
            <a:srgbClr val="DA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974336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63041"/>
                </a:solidFill>
                <a:latin typeface="Aptos"/>
              </a:rPr>
              <a:t>Explain which metric or practical criterion your team prioritised when selecting a linkage. The metrics do not rank every linkage identically.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06440"/>
            <a:ext cx="10241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27179"/>
                </a:solidFill>
                <a:latin typeface="Aptos"/>
              </a:rPr>
              <a:t>Values are taken from the clustering.ipynb linkage comparison and consolidated benchmark outputs.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7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7774"/>
                </a:solidFill>
                <a:latin typeface="Aptos"/>
              </a:rPr>
              <a:t>CLUSTERING VISUALISATION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1852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3041"/>
                </a:solidFill>
                <a:latin typeface="Aptos Display"/>
              </a:rPr>
              <a:t>PCA: view clusters in two dimensions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15568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7179"/>
                </a:solidFill>
                <a:latin typeface="Aptos"/>
              </a:rPr>
              <a:t>PCA is required by the rubric for both clustering algorithms.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A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56248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27179"/>
                </a:solidFill>
                <a:latin typeface="Aptos"/>
              </a:rPr>
              <a:t>23CSE301  /  MACHINE LEARNING CAPSTONE  /  AY 2026–27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6556248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7774"/>
                </a:solidFill>
                <a:latin typeface="Aptos"/>
              </a:rPr>
              <a:t>REVIEW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73968" y="6528816"/>
            <a:ext cx="4114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3041"/>
                </a:solidFill>
                <a:latin typeface="Aptos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59" y="1435608"/>
            <a:ext cx="11018519" cy="425195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ca_cluster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061" y="1481328"/>
            <a:ext cx="10737116" cy="4160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24128" y="5715000"/>
            <a:ext cx="1508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F7774"/>
                </a:solidFill>
                <a:latin typeface="Aptos Display"/>
              </a:rPr>
              <a:t>38.21%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7168" y="5751576"/>
            <a:ext cx="1691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7179"/>
                </a:solidFill>
                <a:latin typeface="Aptos"/>
              </a:rPr>
              <a:t>PC1 variance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5715000"/>
            <a:ext cx="1508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F7774"/>
                </a:solidFill>
                <a:latin typeface="Aptos Display"/>
              </a:rPr>
              <a:t>36.82%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70448" y="5751576"/>
            <a:ext cx="1691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7179"/>
                </a:solidFill>
                <a:latin typeface="Aptos"/>
              </a:rPr>
              <a:t>PC2 variance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0688" y="5715000"/>
            <a:ext cx="1508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DC6F4E"/>
                </a:solidFill>
                <a:latin typeface="Aptos Display"/>
              </a:rPr>
              <a:t>75.03%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3728" y="5751576"/>
            <a:ext cx="1691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7179"/>
                </a:solidFill>
                <a:latin typeface="Aptos"/>
              </a:rPr>
              <a:t>combined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7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7774"/>
                </a:solidFill>
                <a:latin typeface="Aptos"/>
              </a:rPr>
              <a:t>CLUSTERING VISUALISATION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1852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3041"/>
                </a:solidFill>
                <a:latin typeface="Aptos Display"/>
              </a:rPr>
              <a:t>t-SNE: a nonlinear view of the manifold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15568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7179"/>
                </a:solidFill>
                <a:latin typeface="Aptos"/>
              </a:rPr>
              <a:t>The project uses a 2D t-SNE projection on 3,000 samples (perplexity = 30).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A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56248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27179"/>
                </a:solidFill>
                <a:latin typeface="Aptos"/>
              </a:rPr>
              <a:t>23CSE301  /  MACHINE LEARNING CAPSTONE  /  AY 2026–27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6556248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7774"/>
                </a:solidFill>
                <a:latin typeface="Aptos"/>
              </a:rPr>
              <a:t>REVIEW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73968" y="6528816"/>
            <a:ext cx="4114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3041"/>
                </a:solidFill>
                <a:latin typeface="Aptos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7" y="1536192"/>
            <a:ext cx="10972800" cy="406907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sne_clusters_manif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927" y="1581912"/>
            <a:ext cx="9480241" cy="3977639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68680" y="5733288"/>
            <a:ext cx="10469880" cy="384048"/>
          </a:xfrm>
          <a:prstGeom prst="roundRect">
            <a:avLst>
              <a:gd name="adj" fmla="val 12000"/>
            </a:avLst>
          </a:prstGeom>
          <a:solidFill>
            <a:srgbClr val="FA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5815584"/>
            <a:ext cx="10012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3041"/>
                </a:solidFill>
                <a:latin typeface="Aptos"/>
              </a:rPr>
              <a:t>Use this as a visual exploration tool—not as a standalone score proving clusters are correct.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7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7774"/>
                </a:solidFill>
                <a:latin typeface="Aptos"/>
              </a:rPr>
              <a:t>INTEGRATION &amp;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1852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3041"/>
                </a:solidFill>
                <a:latin typeface="Aptos Display"/>
              </a:rPr>
              <a:t>From notebooks to a runnable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15568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7179"/>
                </a:solidFill>
                <a:latin typeface="Aptos"/>
              </a:rPr>
              <a:t>The submitted project includes reusable code, saved classifier artifacts and a Streamlit interface.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A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56248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27179"/>
                </a:solidFill>
                <a:latin typeface="Aptos"/>
              </a:rPr>
              <a:t>23CSE301  /  MACHINE LEARNING CAPSTONE  /  AY 2026–27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6556248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7774"/>
                </a:solidFill>
                <a:latin typeface="Aptos"/>
              </a:rPr>
              <a:t>REVIEW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73968" y="6528816"/>
            <a:ext cx="4114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3041"/>
                </a:solidFill>
                <a:latin typeface="Aptos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965960"/>
            <a:ext cx="246888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965960"/>
            <a:ext cx="2468880" cy="109728"/>
          </a:xfrm>
          <a:prstGeom prst="rect">
            <a:avLst/>
          </a:prstGeom>
          <a:solidFill>
            <a:srgbClr val="1F7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267712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7774"/>
                </a:solidFill>
                <a:latin typeface="Aptos"/>
              </a:rPr>
              <a:t>NOTEBOOKS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688336"/>
            <a:ext cx="2103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63041"/>
                </a:solidFill>
                <a:latin typeface="Aptos"/>
              </a:rPr>
              <a:t>classification.ipynb
clustering.ipynb
regression.ipynb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36976" y="2953512"/>
            <a:ext cx="283463" cy="0"/>
          </a:xfrm>
          <a:prstGeom prst="line">
            <a:avLst/>
          </a:prstGeom>
          <a:ln w="19050">
            <a:solidFill>
              <a:srgbClr val="1F77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584448" y="1965960"/>
            <a:ext cx="246888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84448" y="1965960"/>
            <a:ext cx="2468880" cy="109728"/>
          </a:xfrm>
          <a:prstGeom prst="rect">
            <a:avLst/>
          </a:prstGeom>
          <a:solidFill>
            <a:srgbClr val="538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39" y="2267712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38BA5"/>
                </a:solidFill>
                <a:latin typeface="Aptos"/>
              </a:rPr>
              <a:t>UTILITIES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88336"/>
            <a:ext cx="2103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63041"/>
                </a:solidFill>
                <a:latin typeface="Aptos"/>
              </a:rPr>
              <a:t>eval_utils.py
cluster_utils.py
clustering_utils.py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89904" y="2953512"/>
            <a:ext cx="283464" cy="0"/>
          </a:xfrm>
          <a:prstGeom prst="line">
            <a:avLst/>
          </a:prstGeom>
          <a:ln w="19050">
            <a:solidFill>
              <a:srgbClr val="1F77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437376" y="1965960"/>
            <a:ext cx="246888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37376" y="1965960"/>
            <a:ext cx="2468880" cy="109728"/>
          </a:xfrm>
          <a:prstGeom prst="rect">
            <a:avLst/>
          </a:prstGeom>
          <a:solidFill>
            <a:srgbClr val="DC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1968" y="2267712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C6F4E"/>
                </a:solidFill>
                <a:latin typeface="Aptos"/>
              </a:rPr>
              <a:t>MODEL ARTIFACTS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2688336"/>
            <a:ext cx="2103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63041"/>
                </a:solidFill>
                <a:latin typeface="Aptos"/>
              </a:rPr>
              <a:t>best_classifier.pkl
scaler.pkl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942832" y="2953512"/>
            <a:ext cx="283464" cy="0"/>
          </a:xfrm>
          <a:prstGeom prst="line">
            <a:avLst/>
          </a:prstGeom>
          <a:ln w="19050">
            <a:solidFill>
              <a:srgbClr val="1F77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290304" y="1965960"/>
            <a:ext cx="246888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90304" y="1965960"/>
            <a:ext cx="2468880" cy="109728"/>
          </a:xfrm>
          <a:prstGeom prst="rect">
            <a:avLst/>
          </a:prstGeom>
          <a:solidFill>
            <a:srgbClr val="163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54896" y="2267712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3041"/>
                </a:solidFill>
                <a:latin typeface="Aptos"/>
              </a:rPr>
              <a:t>DEMO APP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54896" y="2688336"/>
            <a:ext cx="2103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63041"/>
                </a:solidFill>
                <a:latin typeface="Aptos"/>
              </a:rPr>
              <a:t>app/app.py
Streamlit UI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4526280"/>
            <a:ext cx="10515600" cy="987552"/>
          </a:xfrm>
          <a:prstGeom prst="roundRect">
            <a:avLst>
              <a:gd name="adj" fmla="val 12000"/>
            </a:avLst>
          </a:prstGeom>
          <a:solidFill>
            <a:srgbClr val="DA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69848" y="4736592"/>
            <a:ext cx="10012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7774"/>
                </a:solidFill>
                <a:latin typeface="Aptos"/>
              </a:rPr>
              <a:t>Local demo command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9848" y="5029200"/>
            <a:ext cx="10012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3041"/>
                </a:solidFill>
                <a:latin typeface="Aptos"/>
              </a:rPr>
              <a:t>streamlit run app/app.py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" y="5833872"/>
            <a:ext cx="10149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C6F4E"/>
                </a:solidFill>
                <a:latin typeface="Aptos"/>
              </a:rPr>
              <a:t>The ZIP contains app code but no public deployment URL; claim a live deployment only after testing and obtaining a working public link.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7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7774"/>
                </a:solidFill>
                <a:latin typeface="Aptos"/>
              </a:rPr>
              <a:t>FINAL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1852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3041"/>
                </a:solidFill>
                <a:latin typeface="Aptos Display"/>
              </a:rPr>
              <a:t>Review 2 checklist before presenting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15568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7179"/>
                </a:solidFill>
                <a:latin typeface="Aptos"/>
              </a:rPr>
              <a:t>A working notebook is not the same as a defensible viva: verify the evidence and practise the reasoning.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A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56248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27179"/>
                </a:solidFill>
                <a:latin typeface="Aptos"/>
              </a:rPr>
              <a:t>23CSE301  /  MACHINE LEARNING CAPSTONE  /  AY 2026–27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6556248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7774"/>
                </a:solidFill>
                <a:latin typeface="Aptos"/>
              </a:rPr>
              <a:t>REVIEW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73968" y="6528816"/>
            <a:ext cx="4114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3041"/>
                </a:solidFill>
                <a:latin typeface="Aptos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19072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DA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751075"/>
            <a:ext cx="1463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7774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709928"/>
            <a:ext cx="48006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7353E"/>
                </a:solidFill>
                <a:latin typeface="Aptos"/>
              </a:rPr>
              <a:t>All five Part B classifiers run without errors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2350008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DA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382012"/>
            <a:ext cx="1463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7774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340864"/>
            <a:ext cx="48006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7353E"/>
                </a:solidFill>
                <a:latin typeface="Aptos"/>
              </a:rPr>
              <a:t>One comparison table includes all ten classifiers and all required metrics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2980944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DA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012948"/>
            <a:ext cx="1463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7774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2971800"/>
            <a:ext cx="48006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7353E"/>
                </a:solidFill>
                <a:latin typeface="Aptos"/>
              </a:rPr>
              <a:t>GridSearchCV results and at least one metric improvement are shown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611879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DA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3643884"/>
            <a:ext cx="1463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7774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602736"/>
            <a:ext cx="48006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7353E"/>
                </a:solidFill>
                <a:latin typeface="Aptos"/>
              </a:rPr>
              <a:t>K-Means and Agglomerative both produce cluster labels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4242816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DA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274820"/>
            <a:ext cx="1463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7774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233672"/>
            <a:ext cx="48006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7353E"/>
                </a:solidFill>
                <a:latin typeface="Aptos"/>
              </a:rPr>
              <a:t>Silhouette, Davies–Bouldin and Calinski–Harabasz are reported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4873752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DA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4905756"/>
            <a:ext cx="1463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7774"/>
                </a:solidFill>
                <a:latin typeface="Aptos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4864608"/>
            <a:ext cx="48006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7353E"/>
                </a:solidFill>
                <a:latin typeface="Aptos"/>
              </a:rPr>
              <a:t>Elbow, dendrogram, PCA for each algorithm, and at least one t-SNE plot are included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36792" y="1719072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FA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91656" y="1751075"/>
            <a:ext cx="1463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C6F4E"/>
                </a:solidFill>
                <a:latin typeface="Aptos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709928"/>
            <a:ext cx="47091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7353E"/>
                </a:solidFill>
                <a:latin typeface="Aptos"/>
              </a:rPr>
              <a:t>All notebook cells execute top-to-bottom with outputs visible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36792" y="2350008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FA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91656" y="2382012"/>
            <a:ext cx="1463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C6F4E"/>
                </a:solidFill>
                <a:latin typeface="Aptos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2340864"/>
            <a:ext cx="47091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7353E"/>
                </a:solidFill>
                <a:latin typeface="Aptos"/>
              </a:rPr>
              <a:t>README states dataset, problem, results, setup and run instructions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36792" y="2980944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FA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91656" y="3012948"/>
            <a:ext cx="1463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C6F4E"/>
                </a:solidFill>
                <a:latin typeface="Aptos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9984" y="2971800"/>
            <a:ext cx="47091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7353E"/>
                </a:solidFill>
                <a:latin typeface="Aptos"/>
              </a:rPr>
              <a:t>requirements.txt or environment.yml is present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36792" y="3611879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FA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91656" y="3643884"/>
            <a:ext cx="1463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C6F4E"/>
                </a:solidFill>
                <a:latin typeface="Aptos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9984" y="3602736"/>
            <a:ext cx="47091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7353E"/>
                </a:solidFill>
                <a:latin typeface="Aptos"/>
              </a:rPr>
              <a:t>Git history contains meaningful milestone commits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36792" y="4242816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FA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91656" y="4274820"/>
            <a:ext cx="1463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C6F4E"/>
                </a:solidFill>
                <a:latin typeface="Aptos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9984" y="4233672"/>
            <a:ext cx="47091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7353E"/>
                </a:solidFill>
                <a:latin typeface="Aptos"/>
              </a:rPr>
              <a:t>Each teammate can explain algorithm choice and metric trade-offs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36792" y="4873752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FA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91656" y="4905756"/>
            <a:ext cx="1463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C6F4E"/>
                </a:solidFill>
                <a:latin typeface="Aptos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29984" y="4864608"/>
            <a:ext cx="47091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7353E"/>
                </a:solidFill>
                <a:latin typeface="Aptos"/>
              </a:rPr>
              <a:t>Confirm app behavior; verify any claimed deployment URL live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7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7774"/>
                </a:solidFill>
                <a:latin typeface="Aptos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1852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3041"/>
                </a:solidFill>
                <a:latin typeface="Aptos Display"/>
              </a:rPr>
              <a:t>Close with evidence, then invite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15568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7179"/>
                </a:solidFill>
                <a:latin typeface="Aptos"/>
              </a:rPr>
              <a:t>Use this slide as a transition to the live notebook/app demo and viva.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A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56248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27179"/>
                </a:solidFill>
                <a:latin typeface="Aptos"/>
              </a:rPr>
              <a:t>23CSE301  /  MACHINE LEARNING CAPSTONE  /  AY 2026–27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6556248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7774"/>
                </a:solidFill>
                <a:latin typeface="Aptos"/>
              </a:rPr>
              <a:t>REVIEW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73968" y="6528816"/>
            <a:ext cx="4114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3041"/>
                </a:solidFill>
                <a:latin typeface="Aptos"/>
              </a:rP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6675120" cy="3520440"/>
          </a:xfrm>
          <a:prstGeom prst="roundRect">
            <a:avLst>
              <a:gd name="adj" fmla="val 12000"/>
            </a:avLst>
          </a:prstGeom>
          <a:solidFill>
            <a:srgbClr val="163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057400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3D2C6"/>
                </a:solidFill>
                <a:latin typeface="Aptos"/>
              </a:rPr>
              <a:t>THE PROJECT IN ONE MINUTE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2542032"/>
            <a:ext cx="5715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Aptos Display"/>
              </a:rPr>
              <a:t>Predictive maintenance
through two ML lenses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4005072"/>
            <a:ext cx="5669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ptos"/>
              </a:rPr>
              <a:t>Classification evaluates failure alerts using several metrics. Clustering explores operating patterns without training on failure labels.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4892040"/>
            <a:ext cx="5623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3D2C6"/>
                </a:solidFill>
                <a:latin typeface="Aptos"/>
              </a:rPr>
              <a:t>Questions?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182880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7774"/>
                </a:solidFill>
                <a:latin typeface="Aptos"/>
              </a:rPr>
              <a:t>REFERENCES &amp; DISCLOSURE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18120" y="2340864"/>
            <a:ext cx="82296" cy="82296"/>
          </a:xfrm>
          <a:prstGeom prst="rect">
            <a:avLst/>
          </a:prstGeom>
          <a:solidFill>
            <a:srgbClr val="1F7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19288" y="2267712"/>
            <a:ext cx="33192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7353E"/>
                </a:solidFill>
                <a:latin typeface="Aptos"/>
              </a:rPr>
              <a:t>AI4I 2020 Predictive Maintenance Dataset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18120" y="2907792"/>
            <a:ext cx="82296" cy="82296"/>
          </a:xfrm>
          <a:prstGeom prst="rect">
            <a:avLst/>
          </a:prstGeom>
          <a:solidFill>
            <a:srgbClr val="1F7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19288" y="2834640"/>
            <a:ext cx="33192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7353E"/>
                </a:solidFill>
                <a:latin typeface="Aptos"/>
              </a:rPr>
              <a:t>scikit-learn documentation (classification, clustering, metrics)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18120" y="3474720"/>
            <a:ext cx="82296" cy="82296"/>
          </a:xfrm>
          <a:prstGeom prst="rect">
            <a:avLst/>
          </a:prstGeom>
          <a:solidFill>
            <a:srgbClr val="1F7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19288" y="3401568"/>
            <a:ext cx="33192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7353E"/>
                </a:solidFill>
                <a:latin typeface="Aptos"/>
              </a:rPr>
              <a:t>23CSE301 Capstone Guidelines, AY 2026–27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18120" y="4041648"/>
            <a:ext cx="82296" cy="82296"/>
          </a:xfrm>
          <a:prstGeom prst="rect">
            <a:avLst/>
          </a:prstGeom>
          <a:solidFill>
            <a:srgbClr val="1F7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19288" y="3968496"/>
            <a:ext cx="33192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7353E"/>
                </a:solidFill>
                <a:latin typeface="Aptos"/>
              </a:rPr>
              <a:t>Project notebooks and figures in the submitted ZIP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18120" y="4608576"/>
            <a:ext cx="82296" cy="82296"/>
          </a:xfrm>
          <a:prstGeom prst="rect">
            <a:avLst/>
          </a:prstGeom>
          <a:solidFill>
            <a:srgbClr val="DC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19288" y="4535424"/>
            <a:ext cx="33192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7353E"/>
                </a:solidFill>
                <a:latin typeface="Aptos"/>
              </a:rPr>
              <a:t>AI-use disclosure: update README to acknowledge presentation-drafting assistance if this deck is used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18120" y="5440680"/>
            <a:ext cx="3520440" cy="530352"/>
          </a:xfrm>
          <a:prstGeom prst="roundRect">
            <a:avLst>
              <a:gd name="adj" fmla="val 12000"/>
            </a:avLst>
          </a:prstGeom>
          <a:solidFill>
            <a:srgbClr val="FA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10144" y="5559552"/>
            <a:ext cx="3154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3041"/>
                </a:solidFill>
                <a:latin typeface="Aptos"/>
              </a:rPr>
              <a:t>Team: verify and own every interpretation.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Industrial Machine Health &amp; Failure Prediction — Review 2</dc:title>
  <dc:subject>23CSE301 Machine Learning Capstone, AY 2026–27</dc:subject>
  <dc:creator>Capstone project team</dc:creator>
  <cp:keywords>Machine Learning, Predictive Maintenance, Classification, Clustering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