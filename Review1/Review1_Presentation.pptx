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 Kumar Mallireddygari" userId="842d9278ddf9b19d" providerId="LiveId" clId="{E1124C96-3E95-4DF9-8F02-D61F5FB48369}"/>
    <pc:docChg chg="custSel delSld modSld">
      <pc:chgData name="Mohan Kumar Mallireddygari" userId="842d9278ddf9b19d" providerId="LiveId" clId="{E1124C96-3E95-4DF9-8F02-D61F5FB48369}" dt="2026-09-17T10:46:49.053" v="10" actId="21"/>
      <pc:docMkLst>
        <pc:docMk/>
      </pc:docMkLst>
      <pc:sldChg chg="del">
        <pc:chgData name="Mohan Kumar Mallireddygari" userId="842d9278ddf9b19d" providerId="LiveId" clId="{E1124C96-3E95-4DF9-8F02-D61F5FB48369}" dt="2026-09-17T10:13:09.885" v="0" actId="2696"/>
        <pc:sldMkLst>
          <pc:docMk/>
          <pc:sldMk cId="0" sldId="257"/>
        </pc:sldMkLst>
      </pc:sldChg>
      <pc:sldChg chg="delSp modSp mod">
        <pc:chgData name="Mohan Kumar Mallireddygari" userId="842d9278ddf9b19d" providerId="LiveId" clId="{E1124C96-3E95-4DF9-8F02-D61F5FB48369}" dt="2026-09-17T10:13:19.615" v="2" actId="21"/>
        <pc:sldMkLst>
          <pc:docMk/>
          <pc:sldMk cId="0" sldId="260"/>
        </pc:sldMkLst>
        <pc:spChg chg="del mod">
          <ac:chgData name="Mohan Kumar Mallireddygari" userId="842d9278ddf9b19d" providerId="LiveId" clId="{E1124C96-3E95-4DF9-8F02-D61F5FB48369}" dt="2026-09-17T10:13:19.615" v="2" actId="21"/>
          <ac:spMkLst>
            <pc:docMk/>
            <pc:sldMk cId="0" sldId="260"/>
            <ac:spMk id="4" creationId="{00000000-0000-0000-0000-000000000000}"/>
          </ac:spMkLst>
        </pc:spChg>
      </pc:sldChg>
      <pc:sldChg chg="delSp mod">
        <pc:chgData name="Mohan Kumar Mallireddygari" userId="842d9278ddf9b19d" providerId="LiveId" clId="{E1124C96-3E95-4DF9-8F02-D61F5FB48369}" dt="2026-09-17T10:13:25.724" v="3" actId="21"/>
        <pc:sldMkLst>
          <pc:docMk/>
          <pc:sldMk cId="0" sldId="262"/>
        </pc:sldMkLst>
        <pc:spChg chg="del">
          <ac:chgData name="Mohan Kumar Mallireddygari" userId="842d9278ddf9b19d" providerId="LiveId" clId="{E1124C96-3E95-4DF9-8F02-D61F5FB48369}" dt="2026-09-17T10:13:25.724" v="3" actId="21"/>
          <ac:spMkLst>
            <pc:docMk/>
            <pc:sldMk cId="0" sldId="262"/>
            <ac:spMk id="4" creationId="{00000000-0000-0000-0000-000000000000}"/>
          </ac:spMkLst>
        </pc:spChg>
      </pc:sldChg>
      <pc:sldChg chg="delSp mod">
        <pc:chgData name="Mohan Kumar Mallireddygari" userId="842d9278ddf9b19d" providerId="LiveId" clId="{E1124C96-3E95-4DF9-8F02-D61F5FB48369}" dt="2026-09-17T10:13:37.217" v="4" actId="21"/>
        <pc:sldMkLst>
          <pc:docMk/>
          <pc:sldMk cId="0" sldId="265"/>
        </pc:sldMkLst>
        <pc:spChg chg="del">
          <ac:chgData name="Mohan Kumar Mallireddygari" userId="842d9278ddf9b19d" providerId="LiveId" clId="{E1124C96-3E95-4DF9-8F02-D61F5FB48369}" dt="2026-09-17T10:13:37.217" v="4" actId="21"/>
          <ac:spMkLst>
            <pc:docMk/>
            <pc:sldMk cId="0" sldId="265"/>
            <ac:spMk id="4" creationId="{00000000-0000-0000-0000-000000000000}"/>
          </ac:spMkLst>
        </pc:spChg>
      </pc:sldChg>
      <pc:sldChg chg="delSp mod">
        <pc:chgData name="Mohan Kumar Mallireddygari" userId="842d9278ddf9b19d" providerId="LiveId" clId="{E1124C96-3E95-4DF9-8F02-D61F5FB48369}" dt="2026-09-17T10:46:06.625" v="5" actId="21"/>
        <pc:sldMkLst>
          <pc:docMk/>
          <pc:sldMk cId="0" sldId="267"/>
        </pc:sldMkLst>
        <pc:spChg chg="del">
          <ac:chgData name="Mohan Kumar Mallireddygari" userId="842d9278ddf9b19d" providerId="LiveId" clId="{E1124C96-3E95-4DF9-8F02-D61F5FB48369}" dt="2026-09-17T10:46:06.625" v="5" actId="21"/>
          <ac:spMkLst>
            <pc:docMk/>
            <pc:sldMk cId="0" sldId="267"/>
            <ac:spMk id="4" creationId="{00000000-0000-0000-0000-000000000000}"/>
          </ac:spMkLst>
        </pc:spChg>
      </pc:sldChg>
      <pc:sldChg chg="delSp mod">
        <pc:chgData name="Mohan Kumar Mallireddygari" userId="842d9278ddf9b19d" providerId="LiveId" clId="{E1124C96-3E95-4DF9-8F02-D61F5FB48369}" dt="2026-09-17T10:46:11.836" v="6" actId="21"/>
        <pc:sldMkLst>
          <pc:docMk/>
          <pc:sldMk cId="0" sldId="269"/>
        </pc:sldMkLst>
        <pc:spChg chg="del">
          <ac:chgData name="Mohan Kumar Mallireddygari" userId="842d9278ddf9b19d" providerId="LiveId" clId="{E1124C96-3E95-4DF9-8F02-D61F5FB48369}" dt="2026-09-17T10:46:11.836" v="6" actId="21"/>
          <ac:spMkLst>
            <pc:docMk/>
            <pc:sldMk cId="0" sldId="269"/>
            <ac:spMk id="4" creationId="{00000000-0000-0000-0000-000000000000}"/>
          </ac:spMkLst>
        </pc:spChg>
      </pc:sldChg>
      <pc:sldChg chg="delSp mod">
        <pc:chgData name="Mohan Kumar Mallireddygari" userId="842d9278ddf9b19d" providerId="LiveId" clId="{E1124C96-3E95-4DF9-8F02-D61F5FB48369}" dt="2026-09-17T10:46:16.927" v="7" actId="21"/>
        <pc:sldMkLst>
          <pc:docMk/>
          <pc:sldMk cId="0" sldId="272"/>
        </pc:sldMkLst>
        <pc:spChg chg="del">
          <ac:chgData name="Mohan Kumar Mallireddygari" userId="842d9278ddf9b19d" providerId="LiveId" clId="{E1124C96-3E95-4DF9-8F02-D61F5FB48369}" dt="2026-09-17T10:46:16.927" v="7" actId="21"/>
          <ac:spMkLst>
            <pc:docMk/>
            <pc:sldMk cId="0" sldId="272"/>
            <ac:spMk id="4" creationId="{00000000-0000-0000-0000-000000000000}"/>
          </ac:spMkLst>
        </pc:spChg>
      </pc:sldChg>
      <pc:sldChg chg="modSp mod">
        <pc:chgData name="Mohan Kumar Mallireddygari" userId="842d9278ddf9b19d" providerId="LiveId" clId="{E1124C96-3E95-4DF9-8F02-D61F5FB48369}" dt="2026-09-17T10:46:29.746" v="8" actId="20577"/>
        <pc:sldMkLst>
          <pc:docMk/>
          <pc:sldMk cId="0" sldId="275"/>
        </pc:sldMkLst>
        <pc:spChg chg="mod">
          <ac:chgData name="Mohan Kumar Mallireddygari" userId="842d9278ddf9b19d" providerId="LiveId" clId="{E1124C96-3E95-4DF9-8F02-D61F5FB48369}" dt="2026-09-17T10:46:29.746" v="8" actId="20577"/>
          <ac:spMkLst>
            <pc:docMk/>
            <pc:sldMk cId="0" sldId="275"/>
            <ac:spMk id="4" creationId="{00000000-0000-0000-0000-000000000000}"/>
          </ac:spMkLst>
        </pc:spChg>
      </pc:sldChg>
      <pc:sldChg chg="delSp mod">
        <pc:chgData name="Mohan Kumar Mallireddygari" userId="842d9278ddf9b19d" providerId="LiveId" clId="{E1124C96-3E95-4DF9-8F02-D61F5FB48369}" dt="2026-09-17T10:46:36.448" v="9" actId="21"/>
        <pc:sldMkLst>
          <pc:docMk/>
          <pc:sldMk cId="0" sldId="277"/>
        </pc:sldMkLst>
        <pc:spChg chg="del">
          <ac:chgData name="Mohan Kumar Mallireddygari" userId="842d9278ddf9b19d" providerId="LiveId" clId="{E1124C96-3E95-4DF9-8F02-D61F5FB48369}" dt="2026-09-17T10:46:36.448" v="9" actId="21"/>
          <ac:spMkLst>
            <pc:docMk/>
            <pc:sldMk cId="0" sldId="277"/>
            <ac:spMk id="4" creationId="{00000000-0000-0000-0000-000000000000}"/>
          </ac:spMkLst>
        </pc:spChg>
      </pc:sldChg>
      <pc:sldChg chg="delSp mod">
        <pc:chgData name="Mohan Kumar Mallireddygari" userId="842d9278ddf9b19d" providerId="LiveId" clId="{E1124C96-3E95-4DF9-8F02-D61F5FB48369}" dt="2026-09-17T10:46:49.053" v="10" actId="21"/>
        <pc:sldMkLst>
          <pc:docMk/>
          <pc:sldMk cId="0" sldId="284"/>
        </pc:sldMkLst>
        <pc:spChg chg="del">
          <ac:chgData name="Mohan Kumar Mallireddygari" userId="842d9278ddf9b19d" providerId="LiveId" clId="{E1124C96-3E95-4DF9-8F02-D61F5FB48369}" dt="2026-09-17T10:46:49.053" v="10" actId="21"/>
          <ac:spMkLst>
            <pc:docMk/>
            <pc:sldMk cId="0" sldId="284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AI-Based Industrial Machine Health</a:t>
            </a:r>
            <a:br/>
            <a:r>
              <a:t>&amp;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C4FF"/>
                </a:solidFill>
                <a:latin typeface="Calibri"/>
              </a:defRPr>
            </a:pPr>
            <a:r>
              <a:t>Machine Learning Capstone Project (23CSE301) — Review 1 Presentation</a:t>
            </a:r>
            <a:br/>
            <a:r>
              <a:t>Academic Year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75488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E0E0"/>
                </a:solidFill>
                <a:latin typeface="Calibri"/>
              </a:defRPr>
            </a:pPr>
            <a:r>
              <a:t>Dataset: AI4I 2020 Predictive Maintenance  |  10,000 records  |  14 features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1. 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Why Predictive Maintenance?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Industrial CNC machines experience degradation from: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Thermal friction  →  Air &amp; Process Temperatures rise together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Mechanical stress  →  High Torque and Rotational Speed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Cutting tool fatigue  →  Tool Wear accumulates with usage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Unexpected failure causes: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Expensive unplanned downtime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Damaged workpieces &amp; safety hazards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Reactive instead of proactive maintenance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Our Goal: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Regression: Predict Tool Wear [min] to schedule tool replacements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Classification: Predict Machine Failure (0/1) to trigger protective shutdowns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2. Dataset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Dataset Overview — AI4I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Shape:  10,000 rows  ×  14 columns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Missing Values:  0  (No missing data in any column)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Duplicate Rows:  0  (Every observation is unique)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Features (used in modeling):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Type (L / M / H)  →  Machine quality variant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Air Temperature [K]  →  Ambient factory temperature (~300 K)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Process Temperature [K]  →  Internal cutting temperature (~310 K)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Rotational Speed [rpm]  →  Spindle speed (~1,539 rpm mean)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Torque [Nm]  →  Mechanical load (~40 Nm mean)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Tool Wear [min]  →  Cumulative cutting time (0 to 253 min)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Target Distribution (Machine Failure):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9,661 Normal (96.61%)  vs  339 Failures (3.39%)  →  Severe imbalance (~28.5:1)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C4FF"/>
                </a:solidFill>
                <a:latin typeface="Calibri"/>
              </a:defRPr>
            </a:pPr>
            <a:r>
              <a:t>UDI, Product ID → Identifiers (excluded)  |  TWF, HDF, PWF, OSF, RNF → Failure mode flags (excluded for target leakage)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3. Exploratory Data Analysis (EDA)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EDA — 9 Targeted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Graph 1:  Target Distribution (bar chart) — confirms 96.61% vs 3.39% class imbalance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Graph 2:  Air Temperature Distribution — symmetric Gaussian, ~295–305 K range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Graph 3:  Process Temperature Distribution — tracks ~10 K above air temp (correlated r=0.88)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Graph 4:  Rotational Speed Distribution — right-skewed, mean 1,539 rpm, up to 2,886 rpm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Graph 5:  Torque Distribution — normally distributed around 40 Nm (std = 9.97 Nm)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Graph 6:  Tool Wear Distribution — approximately uniform 0–210 min (good regression target)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Graph 7:  Correlation Heatmap — key relationships mapped (speed↔torque r = −0.88)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Graph 8:  Torque vs Failure (boxplot) — failed machines show median torque ~53 Nm vs ~40 Nm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Graph 9:  Tool Wear vs Failure (boxplot) — failed machines show higher median wear ~180 min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Every graph includes: Purpose, Observation, Meaning, and ML Relevance in Markdown commentary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Key EDA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Strong Physical Couplings Discovered: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Air Temp ↔ Process Temp:  r = +0.88  (thermodynamic coupling)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Rotational Speed ↔ Torque:  r = −0.88  (mechanical power law: P = τ × ω)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Failure Indicators: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Torque:  Failed machines operate at significantly higher torque (median ~53 Nm vs ~40 Nm)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Tool Wear:  Failed machines have substantially more accumulated wear (median ~180 min vs ~107 min)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Important Notes: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Correlation does NOT prove causation — we say 'associated with', not 'causes'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Extreme rotational speeds (418 points &gt; 1,895 rpm) are legitimate operating regimes, NOT errors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Ridge/Lasso regularization will handle the multicollinearity between temperature and speed/torque pairs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4. Data Cleaning &amp; Outlier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Data Cleaning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Missing Values:  0 across all 14 columns  →  No imputation needed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Duplicate Rows:  0  →  No removal needed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IQR Outlier Audit: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Air Temperature:        0 outliers (0.00%)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Process Temperature:   0 outliers (0.00%)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Rotational Speed:      418 outliers (4.18%) — legitimate high-speed operations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Torque:                 69 outliers (0.69%) — extreme torque linked to failure modes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Tool Wear:              0 outliers (0.00%)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Engineering Decision:  RETAIN ALL observations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Extreme values represent the exact failure conditions our models must detect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Dropping them would remove the most informative failure-predictive data points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5. Feature Engineering, Binning &amp; Target Leakage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Feature Engineering &amp; Binning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Engineered Features (physics-based, domain-justified):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1.  Temp_Difference = Process Temp − Air Temp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    → Captures heat dissipation capacity; high ΔT → overheating risk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2.  Power_Proxy = Torque × Rotational Speed × (2π/60)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    → Estimates mechanical power in Watts; extreme power → failure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Binning Demonstration (Tool Wear → 3 Maintenance Categories):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Low Wear (0–60 min):    ~27% of machines — tool recently installed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Medium Wear (61–150 min): ~41% of machines — normal service life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High Wear (&gt;150 min):   ~32% of machines — inspection recommended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Note: Binning demonstrated for interpretability; full continuous values kept for models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Target Leakage Audit: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TWF, HDF, PWF, OSF, RNF are post-failure diagnostic flags — NOT pre-failure sensors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330/339 failures have at least one flag set → including them = artificially easy prediction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Decision: ALL 5 failure mode flags EXCLUDED from all predictor feature sets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6. Preprocessing Pipeline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Leakage-Free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Correct Sequence (CRITICAL for marks):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1.  Load Data → Basic Inspection → Define X and y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2.  Train-Test Split (80:20, random_state=42)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    • Classification: stratify=y (preserves 3.39% failure ratio in both sets)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3.  Fit ColumnTransformer on TRAINING DATA ONLY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    • StandardScaler: fitted on X_train numerical features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    • OneHotEncoder(drop='first'): fitted on X_train categorical (Type column)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4.  Transform both X_train and X_test using the fitted transformer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5.  Train Models → Evaluate on X_test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Why This Matters: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Fitting scaler on full data BEFORE splitting → test set statistics leak into training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This produces falsely optimistic evaluation metrics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The rubric explicitly states: 'fitted on train set only' — mark deduction otherwise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PCA — Dimensionality Reduction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What PCA Does:  Rotates feature space to find orthogonal axes of maximum variance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Why Scaling First:  Features have different units (K, rpm, Nm, min) — unscaled PCA biased by magnitude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Findings on Our Dataset (6 numerical features):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First 3 principal components explain ~88% of total variance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4 components capture &gt;98% of variance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Confirms redundancy in temperature pairs and speed/torque pairs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Role in Our Project: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Demonstrated as a data reduction technique (rubric requirement)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We do NOT claim PCA improves our model performance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We retain original physical features in final models for interpretability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PCA would destroy domain meaning (coefficients become uninterpretable)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7. Regression Track — Predicting Tool Wear [min]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Regression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Target:  Tool wear [min]  (continuous, 0 to 253 minutes)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Physically meaningful: represents cumulative active cutting time of the tool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Approximately uniform distribution — good for regression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Predictors (7 features):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Type (categorical → one-hot encoded)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Air Temperature [K]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Process Temperature [K]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Rotational Speed [rpm]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Torque [Nm]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Temp_Difference (engineered)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Power_Proxy (engineered)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Note: Tool wear removed from predictors.  Machine failure NOT used as a predictor.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Split: 80% Train / 20% Test  |  random_state = 42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10 Regression Algorithms — 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All 10 models trained on the SAME preprocessed training set, evaluated on the SAME test set: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Rank  |  Model                            |    R²     |  RMSE   |  MAE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──────┼───────────────────────────────────┼───────────┼─────────┼───────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1   |  Random Forest Regressor           |  0.0453   |  63.84  |  54.93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2   |  Gradient Boosting Regressor       |  0.0417   |  63.96  |  55.07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3   |  Decision Tree Regressor           |  0.0233   |  64.58  |  55.41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4   |  Lasso Regression                  | −0.0008   |  65.37  |  56.80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5   |  ElasticNet Regression             | −0.0010   |  65.37  |  56.80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6   |  Linear Regression                 | −0.0016   |  65.39  |  56.82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7   |  Ridge Regression                  | −0.0016   |  65.39  |  56.82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8   |  Polynomial Regression (Deg 2)     | −0.0020   |  65.41  |  56.77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9   |  Support Vector Regressor (SVR)    | −0.0090   |  65.63  |  56.95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10   |  K-Nearest Neighbors Regressor     | −0.0769   |  67.81  |  57.10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C4FF"/>
                </a:solidFill>
                <a:latin typeface="Calibri"/>
              </a:defRPr>
            </a:pPr>
            <a:r>
              <a:t>Tree-based ensembles capture non-linear patterns best. Low R² is expected: tool wear is driven by usage time, not instantaneous sensor readings.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Hyperparameter Tuning (GridSearchCV)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734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 dirty="0"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rPr dirty="0"/>
              <a:t>1. Ridge Regression: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rPr dirty="0"/>
              <a:t>    • Parameter: alpha = [0.01, 0.1, 1.0, 10.0, 100.0]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rPr dirty="0"/>
              <a:t>    • Best: alpha = 100.0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rPr dirty="0"/>
              <a:t>    • Baseline R² = −0.0016  →  Tuned R² = −0.0015  (marginal improvement)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 dirty="0"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rPr dirty="0"/>
              <a:t>2. Random Forest Regressor: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rPr dirty="0"/>
              <a:t>    • Parameters: </a:t>
            </a:r>
            <a:r>
              <a:rPr dirty="0" err="1"/>
              <a:t>n_estimators</a:t>
            </a:r>
            <a:r>
              <a:rPr dirty="0"/>
              <a:t> = [50, 100], </a:t>
            </a:r>
            <a:r>
              <a:rPr dirty="0" err="1"/>
              <a:t>max_depth</a:t>
            </a:r>
            <a:r>
              <a:rPr dirty="0"/>
              <a:t> = [4, 6, 8], </a:t>
            </a:r>
            <a:r>
              <a:rPr dirty="0" err="1"/>
              <a:t>min_samples_split</a:t>
            </a:r>
            <a:r>
              <a:rPr dirty="0"/>
              <a:t> = [2, 5]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rPr dirty="0"/>
              <a:t>    • Best: </a:t>
            </a:r>
            <a:r>
              <a:rPr dirty="0" err="1"/>
              <a:t>n_estimators</a:t>
            </a:r>
            <a:r>
              <a:rPr dirty="0"/>
              <a:t>=100, </a:t>
            </a:r>
            <a:r>
              <a:rPr dirty="0" err="1"/>
              <a:t>max_depth</a:t>
            </a:r>
            <a:r>
              <a:rPr dirty="0"/>
              <a:t>=8, </a:t>
            </a:r>
            <a:r>
              <a:rPr dirty="0" err="1"/>
              <a:t>min_samples_split</a:t>
            </a:r>
            <a:r>
              <a:rPr dirty="0"/>
              <a:t>=5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rPr dirty="0"/>
              <a:t>    • Baseline R² = 0.0453  →  Tuned R² = 0.0659  (+0.0206 improvement)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 dirty="0"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rPr dirty="0"/>
              <a:t>5-Fold Cross-Validation (on training data only):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rPr dirty="0"/>
              <a:t>    • Random Forest:         Mean CV R² = 0.0413 ± 0.0051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rPr dirty="0"/>
              <a:t>    • Gradient Boosting:     Mean CV R² = 0.0416 ± 0.0071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rPr dirty="0"/>
              <a:t>    → Consistent performance across folds = stable generalization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Regression Visualizations (Rubric C4)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1. Predicted vs Actual Plot (Tuned Random Forest):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Points should align along diagonal (y = x) for perfect prediction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Our plot shows modest positive trend — predictions cluster around mean (~108 min)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Limitation: instantaneous sensor readings alone cannot fully explain gradual tool aging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2. Residual Plot: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Residuals (Actual − Predicted) plotted against Predicted values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Residuals are roughly centered around zero across prediction range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No severe fan pattern (heteroscedasticity)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Spread is wide (~±100 min) reflecting low R² — acknowledged honestly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3. Feature Importance Plot (Random Forest):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Top features: Rotational Speed, Torque, Power_Proxy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Temperature features contribute less to wear prediction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Important: Feature importance shows association, NOT causation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8. Classification Track — Part 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Classification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Target:  Machine failure  (binary: 0 = Normal, 1 = Failure)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Predictors (8 features — includes Tool Wear as operational predictor):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Type, Air Temp, Process Temp, Rotational Speed, Torque, Tool Wear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Temp_Difference, Power_Proxy (engineered features)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NO failure mode flags (TWF, HDF, PWF, OSF, RNF) — excluded for target leakage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Split: 80% Train / 20% Test  |  random_state = 42  |  stratify = y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Stratification ensures both train and test sets maintain the 96.61% / 3.39% ratio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5 Part-A Algorithms (Review 1 scope):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1. Logistic Regression         4. Decision Tree Classifier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2. K-Nearest Neighbors (KNN)   5. Support Vector Machine (SVC)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3. Gaussian Naive Bayes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Classification Part A — Results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  Rank  |  Model                     | Accuracy | Precision | Recall | W. F1  | ROC-AUC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──────┼────────────────────────────┼──────────┼───────────┼────────┼────────┼────────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1   |  Decision Tree Classifier   |  0.9850  |   0.9750  | 0.5735 | 0.9831 | 0.9437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2   |  K-Nearest Neighbors (KNN)  |  0.9765  |   0.8889  | 0.3529 | 0.9716 | 0.8752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3   |  Support Vector Machine     |  0.9755  |   0.8800  | 0.3235 | 0.9700 | 0.9737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4   |  Gaussian Naive Bayes       |  0.9620  |   0.4259  | 0.3382 | 0.9599 | 0.9021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5   |  Logistic Regression        |  0.9675  |   0.5714  | 0.1765 | 0.9591 | 0.9252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Best Overall:  Decision Tree — highest Weighted F1 (0.9831)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→ Caught 39 out of 68 failures with only 1 false alarm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→ Best balance of precision AND recall in Part A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Best ROC-AUC:  SVM (0.9737) — best overall discrimination 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C4FF"/>
                </a:solidFill>
                <a:latin typeface="Calibri"/>
              </a:defRPr>
            </a:pPr>
            <a:r>
              <a:t>Part B classifiers (Random Forest, AdaBoost, GBDT, Bagging, MLP) will be added in Review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Confusion Matrices — Understanding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Decision Tree Classifier (Best Performer):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                    Predicted: No Fail  |  Predicted: Fail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Actual: No Fail  |       1,931          |         1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Actual: Fail     |          29          |        39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Error Types &amp; Their Industrial Cost: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False Negative (FN = 29): Model says 'Safe' → Machine FAILS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  → CATASTROPHIC: unplanned breakdown, damaged equipment, safety risk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False Positive (FP = 1): Model says 'Fail' → Machine is actually FINE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  → MINOR: unnecessary inspection, small cost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In Predictive Maintenance: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HIGH RECALL is critical (catching actual failures)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Precision is important but secondary (avoiding false alarms)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Decision Tree achieved Recall = 57.35%, Precision = 97.50%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Further improvement via class rebalancing techniques is planned for Review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Class Imbalance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The Accuracy Paradox: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A trivial model predicting ALL zeros (no failure) achieves 96.61% accuracy!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But it detects ZERO actual failures (Recall = 0%) — completely useless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Why Accuracy Alone is Misleading for Rare Event Detection: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Only 339 out of 10,000 instances are failures (3.39%)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Any model that mostly predicts 'normal' will look accurate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Metrics We Use Instead: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Precision:      Of predicted failures, how many were real?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Recall:          Of real failures, how many did we catch?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Weighted F1:    Harmonic mean of Precision &amp; Recall (class-weighted)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ROC-AUC:        Threshold-independent discrimination ability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Mitigation Applied:  Stratified train-test split preserves class ratio in both partitions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9. Key Findings &amp; Honest Assessment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Honest Assessment of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Regression Track (Tool Wear Prediction):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Best R² = 0.0659 (Tuned Random Forest) — low but expected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WHY: Tool wear is primarily driven by cumulative usage time (minutes of cutting)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Instantaneous sensor readings (temperature, speed, torque) cannot fully explain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  how long a tool has been used — they only show current operating state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This is an honest finding, NOT a failure of our approach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Classification Track (Machine Failure):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Decision Tree achieves 98.5% accuracy, 57% recall, 97.5% precision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Strong discrimination: ROC-AUC &gt; 0.87 for all 5 models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Challenge: High-precision but moderate recall → 29 failures still missed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Data Leakage Prevention: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ALL preprocessing fitted strictly on training data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Failure mode flags excluded — models work with realistic sensor data only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No fabricated targets or artificial performance inflation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10. Review 2 — Future Work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7D2F"/>
                </a:solidFill>
                <a:latin typeface="Calibri"/>
              </a:defRPr>
            </a:pPr>
            <a:r>
              <a:t>Review 2 Planned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700" b="0">
                <a:solidFill>
                  <a:srgbClr val="E0E0E0"/>
                </a:solidFill>
                <a:latin typeface="Calibri"/>
              </a:defRPr>
            </a:pPr>
            <a:r>
              <a:t>Classification Part B (5 Additional Algorithms):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6.  Random Forest Classifier (feature importance)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7.  AdaBoost Classifier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8.  Gradient Boosting Classifier (XGBoost/LightGBM)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9.  Bagging Classifier (Decision Tree base estimator)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10.  MLP Neural Network Classifier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→ Consolidated 10-algorithm comparison table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Clustering Track: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K-Means Clustering with Elbow Method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Agglomerative Hierarchical Clustering with Dendrogram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Silhouette Score, Davies-Bouldin Index, Calinski-Harabasz Index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2D PCA and t-SNE cluster visualizations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endParaRPr/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Optional Bonus (+2 Marks):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Streamlit/Gradio interactive GUI for real-time predictions</a:t>
            </a:r>
          </a:p>
          <a:p>
            <a:pPr>
              <a:spcBef>
                <a:spcPts val="400"/>
              </a:spcBef>
              <a:defRPr sz="1700">
                <a:solidFill>
                  <a:srgbClr val="E0E0E0"/>
                </a:solidFill>
                <a:latin typeface="Calibri"/>
              </a:defRPr>
            </a:pPr>
            <a:r>
              <a:t>    • Public deployment on Streamlit Community Cloud / Hugging Face Spaces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C4FF"/>
                </a:solidFill>
                <a:latin typeface="Calibri"/>
              </a:defRPr>
            </a:pPr>
            <a:r>
              <a:t>Questions &amp; Viva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5720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E0E0E0"/>
                </a:solidFill>
                <a:latin typeface="Calibri"/>
              </a:defRPr>
            </a:pPr>
            <a:r>
              <a:t>All code, observations, and model evaluations are reproducible.</a:t>
            </a:r>
            <a:br/>
            <a:r>
              <a:t>Notebook uses random_state=42 throughout.</a:t>
            </a:r>
            <a:br/>
            <a:r>
              <a:t>AI tools used for code scaffolding — analysis and interpretation are original.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2936</Words>
  <Application>Microsoft Office PowerPoint</Application>
  <PresentationFormat>Widescreen</PresentationFormat>
  <Paragraphs>293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Mohan Kumar Mallireddygari</cp:lastModifiedBy>
  <cp:revision>1</cp:revision>
  <dcterms:created xsi:type="dcterms:W3CDTF">2013-01-27T09:14:16Z</dcterms:created>
  <dcterms:modified xsi:type="dcterms:W3CDTF">2026-09-17T10:46:57Z</dcterms:modified>
  <cp:category/>
</cp:coreProperties>
</file>